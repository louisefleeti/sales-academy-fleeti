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E993E9-952C-F86A-C64C-9EC8677D74CC}" v="131" dt="2026-05-19T13:12:58.262"/>
    <p1510:client id="{3E128189-FDB2-1048-B88B-489E3E5BEFEF}" v="86" dt="2026-05-19T09:52:59.1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43"/>
    <p:restoredTop sz="94610"/>
  </p:normalViewPr>
  <p:slideViewPr>
    <p:cSldViewPr snapToGrid="0" snapToObjects="1">
      <p:cViewPr>
        <p:scale>
          <a:sx n="74" d="100"/>
          <a:sy n="74" d="100"/>
        </p:scale>
        <p:origin x="7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ban Olçomendy" userId="S::iban@fleeti.co::ab1e5fc8-0e2f-4a7d-b64d-f951c9a0399f" providerId="AD" clId="Web-{00E993E9-952C-F86A-C64C-9EC8677D74CC}"/>
    <pc:docChg chg="modSld">
      <pc:chgData name="Iban Olçomendy" userId="S::iban@fleeti.co::ab1e5fc8-0e2f-4a7d-b64d-f951c9a0399f" providerId="AD" clId="Web-{00E993E9-952C-F86A-C64C-9EC8677D74CC}" dt="2026-05-19T13:12:56.605" v="127" actId="20577"/>
      <pc:docMkLst>
        <pc:docMk/>
      </pc:docMkLst>
      <pc:sldChg chg="modSp">
        <pc:chgData name="Iban Olçomendy" userId="S::iban@fleeti.co::ab1e5fc8-0e2f-4a7d-b64d-f951c9a0399f" providerId="AD" clId="Web-{00E993E9-952C-F86A-C64C-9EC8677D74CC}" dt="2026-05-19T13:01:13.205" v="16" actId="20577"/>
        <pc:sldMkLst>
          <pc:docMk/>
          <pc:sldMk cId="0" sldId="257"/>
        </pc:sldMkLst>
        <pc:spChg chg="mod">
          <ac:chgData name="Iban Olçomendy" userId="S::iban@fleeti.co::ab1e5fc8-0e2f-4a7d-b64d-f951c9a0399f" providerId="AD" clId="Web-{00E993E9-952C-F86A-C64C-9EC8677D74CC}" dt="2026-05-19T09:55:28.250" v="1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Iban Olçomendy" userId="S::iban@fleeti.co::ab1e5fc8-0e2f-4a7d-b64d-f951c9a0399f" providerId="AD" clId="Web-{00E993E9-952C-F86A-C64C-9EC8677D74CC}" dt="2026-05-19T13:00:51.876" v="4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Iban Olçomendy" userId="S::iban@fleeti.co::ab1e5fc8-0e2f-4a7d-b64d-f951c9a0399f" providerId="AD" clId="Web-{00E993E9-952C-F86A-C64C-9EC8677D74CC}" dt="2026-05-19T13:01:13.205" v="16" actId="20577"/>
          <ac:spMkLst>
            <pc:docMk/>
            <pc:sldMk cId="0" sldId="257"/>
            <ac:spMk id="29" creationId="{00000000-0000-0000-0000-000000000000}"/>
          </ac:spMkLst>
        </pc:spChg>
      </pc:sldChg>
      <pc:sldChg chg="modSp">
        <pc:chgData name="Iban Olçomendy" userId="S::iban@fleeti.co::ab1e5fc8-0e2f-4a7d-b64d-f951c9a0399f" providerId="AD" clId="Web-{00E993E9-952C-F86A-C64C-9EC8677D74CC}" dt="2026-05-19T13:12:40.121" v="107" actId="20577"/>
        <pc:sldMkLst>
          <pc:docMk/>
          <pc:sldMk cId="0" sldId="259"/>
        </pc:sldMkLst>
        <pc:spChg chg="mod">
          <ac:chgData name="Iban Olçomendy" userId="S::iban@fleeti.co::ab1e5fc8-0e2f-4a7d-b64d-f951c9a0399f" providerId="AD" clId="Web-{00E993E9-952C-F86A-C64C-9EC8677D74CC}" dt="2026-05-19T13:12:40.121" v="107" actId="20577"/>
          <ac:spMkLst>
            <pc:docMk/>
            <pc:sldMk cId="0" sldId="259"/>
            <ac:spMk id="37" creationId="{00000000-0000-0000-0000-000000000000}"/>
          </ac:spMkLst>
        </pc:spChg>
      </pc:sldChg>
      <pc:sldChg chg="addSp delSp modSp">
        <pc:chgData name="Iban Olçomendy" userId="S::iban@fleeti.co::ab1e5fc8-0e2f-4a7d-b64d-f951c9a0399f" providerId="AD" clId="Web-{00E993E9-952C-F86A-C64C-9EC8677D74CC}" dt="2026-05-19T13:12:56.605" v="127" actId="20577"/>
        <pc:sldMkLst>
          <pc:docMk/>
          <pc:sldMk cId="0" sldId="260"/>
        </pc:sldMkLst>
        <pc:spChg chg="add del mod">
          <ac:chgData name="Iban Olçomendy" userId="S::iban@fleeti.co::ab1e5fc8-0e2f-4a7d-b64d-f951c9a0399f" providerId="AD" clId="Web-{00E993E9-952C-F86A-C64C-9EC8677D74CC}" dt="2026-05-19T13:12:56.605" v="127" actId="20577"/>
          <ac:spMkLst>
            <pc:docMk/>
            <pc:sldMk cId="0" sldId="260"/>
            <ac:spMk id="54" creationId="{00000000-0000-0000-0000-000000000000}"/>
          </ac:spMkLst>
        </pc:spChg>
        <pc:spChg chg="mod">
          <ac:chgData name="Iban Olçomendy" userId="S::iban@fleeti.co::ab1e5fc8-0e2f-4a7d-b64d-f951c9a0399f" providerId="AD" clId="Web-{00E993E9-952C-F86A-C64C-9EC8677D74CC}" dt="2026-05-19T13:12:32.636" v="103" actId="1076"/>
          <ac:spMkLst>
            <pc:docMk/>
            <pc:sldMk cId="0" sldId="260"/>
            <ac:spMk id="55" creationId="{00000000-0000-0000-0000-000000000000}"/>
          </ac:spMkLst>
        </pc:spChg>
      </pc:sldChg>
      <pc:sldChg chg="modSp">
        <pc:chgData name="Iban Olçomendy" userId="S::iban@fleeti.co::ab1e5fc8-0e2f-4a7d-b64d-f951c9a0399f" providerId="AD" clId="Web-{00E993E9-952C-F86A-C64C-9EC8677D74CC}" dt="2026-05-19T13:02:55.144" v="21" actId="20577"/>
        <pc:sldMkLst>
          <pc:docMk/>
          <pc:sldMk cId="0" sldId="262"/>
        </pc:sldMkLst>
        <pc:spChg chg="mod">
          <ac:chgData name="Iban Olçomendy" userId="S::iban@fleeti.co::ab1e5fc8-0e2f-4a7d-b64d-f951c9a0399f" providerId="AD" clId="Web-{00E993E9-952C-F86A-C64C-9EC8677D74CC}" dt="2026-05-19T13:02:55.144" v="21" actId="20577"/>
          <ac:spMkLst>
            <pc:docMk/>
            <pc:sldMk cId="0" sldId="262"/>
            <ac:spMk id="63" creationId="{F078291A-F170-BE65-1D1A-72DB2C7B0283}"/>
          </ac:spMkLst>
        </pc:spChg>
      </pc:sldChg>
      <pc:sldChg chg="addSp delSp modSp">
        <pc:chgData name="Iban Olçomendy" userId="S::iban@fleeti.co::ab1e5fc8-0e2f-4a7d-b64d-f951c9a0399f" providerId="AD" clId="Web-{00E993E9-952C-F86A-C64C-9EC8677D74CC}" dt="2026-05-19T13:05:08.256" v="47" actId="20577"/>
        <pc:sldMkLst>
          <pc:docMk/>
          <pc:sldMk cId="0" sldId="263"/>
        </pc:sldMkLst>
        <pc:spChg chg="add del">
          <ac:chgData name="Iban Olçomendy" userId="S::iban@fleeti.co::ab1e5fc8-0e2f-4a7d-b64d-f951c9a0399f" providerId="AD" clId="Web-{00E993E9-952C-F86A-C64C-9EC8677D74CC}" dt="2026-05-19T13:04:39.880" v="32"/>
          <ac:spMkLst>
            <pc:docMk/>
            <pc:sldMk cId="0" sldId="263"/>
            <ac:spMk id="27" creationId="{00000000-0000-0000-0000-000000000000}"/>
          </ac:spMkLst>
        </pc:spChg>
        <pc:spChg chg="add del">
          <ac:chgData name="Iban Olçomendy" userId="S::iban@fleeti.co::ab1e5fc8-0e2f-4a7d-b64d-f951c9a0399f" providerId="AD" clId="Web-{00E993E9-952C-F86A-C64C-9EC8677D74CC}" dt="2026-05-19T13:04:39.458" v="30"/>
          <ac:spMkLst>
            <pc:docMk/>
            <pc:sldMk cId="0" sldId="263"/>
            <ac:spMk id="28" creationId="{00000000-0000-0000-0000-000000000000}"/>
          </ac:spMkLst>
        </pc:spChg>
        <pc:spChg chg="add del mod">
          <ac:chgData name="Iban Olçomendy" userId="S::iban@fleeti.co::ab1e5fc8-0e2f-4a7d-b64d-f951c9a0399f" providerId="AD" clId="Web-{00E993E9-952C-F86A-C64C-9EC8677D74CC}" dt="2026-05-19T13:05:06.162" v="44" actId="20577"/>
          <ac:spMkLst>
            <pc:docMk/>
            <pc:sldMk cId="0" sldId="263"/>
            <ac:spMk id="29" creationId="{00000000-0000-0000-0000-000000000000}"/>
          </ac:spMkLst>
        </pc:spChg>
        <pc:spChg chg="add del mod">
          <ac:chgData name="Iban Olçomendy" userId="S::iban@fleeti.co::ab1e5fc8-0e2f-4a7d-b64d-f951c9a0399f" providerId="AD" clId="Web-{00E993E9-952C-F86A-C64C-9EC8677D74CC}" dt="2026-05-19T13:05:08.256" v="47" actId="20577"/>
          <ac:spMkLst>
            <pc:docMk/>
            <pc:sldMk cId="0" sldId="263"/>
            <ac:spMk id="30" creationId="{00000000-0000-0000-0000-000000000000}"/>
          </ac:spMkLst>
        </pc:spChg>
        <pc:spChg chg="add del">
          <ac:chgData name="Iban Olçomendy" userId="S::iban@fleeti.co::ab1e5fc8-0e2f-4a7d-b64d-f951c9a0399f" providerId="AD" clId="Web-{00E993E9-952C-F86A-C64C-9EC8677D74CC}" dt="2026-05-19T13:04:38.630" v="28"/>
          <ac:spMkLst>
            <pc:docMk/>
            <pc:sldMk cId="0" sldId="263"/>
            <ac:spMk id="31" creationId="{00000000-0000-0000-0000-000000000000}"/>
          </ac:spMkLst>
        </pc:spChg>
      </pc:sldChg>
      <pc:sldChg chg="modSp">
        <pc:chgData name="Iban Olçomendy" userId="S::iban@fleeti.co::ab1e5fc8-0e2f-4a7d-b64d-f951c9a0399f" providerId="AD" clId="Web-{00E993E9-952C-F86A-C64C-9EC8677D74CC}" dt="2026-05-19T13:04:44.037" v="34" actId="20577"/>
        <pc:sldMkLst>
          <pc:docMk/>
          <pc:sldMk cId="0" sldId="264"/>
        </pc:sldMkLst>
        <pc:spChg chg="mod">
          <ac:chgData name="Iban Olçomendy" userId="S::iban@fleeti.co::ab1e5fc8-0e2f-4a7d-b64d-f951c9a0399f" providerId="AD" clId="Web-{00E993E9-952C-F86A-C64C-9EC8677D74CC}" dt="2026-05-19T13:04:44.037" v="34" actId="20577"/>
          <ac:spMkLst>
            <pc:docMk/>
            <pc:sldMk cId="0" sldId="264"/>
            <ac:spMk id="34" creationId="{00000000-0000-0000-0000-000000000000}"/>
          </ac:spMkLst>
        </pc:spChg>
      </pc:sldChg>
      <pc:sldChg chg="addSp delSp modSp">
        <pc:chgData name="Iban Olçomendy" userId="S::iban@fleeti.co::ab1e5fc8-0e2f-4a7d-b64d-f951c9a0399f" providerId="AD" clId="Web-{00E993E9-952C-F86A-C64C-9EC8677D74CC}" dt="2026-05-19T13:11:32.995" v="96" actId="1076"/>
        <pc:sldMkLst>
          <pc:docMk/>
          <pc:sldMk cId="0" sldId="266"/>
        </pc:sldMkLst>
        <pc:spChg chg="mod">
          <ac:chgData name="Iban Olçomendy" userId="S::iban@fleeti.co::ab1e5fc8-0e2f-4a7d-b64d-f951c9a0399f" providerId="AD" clId="Web-{00E993E9-952C-F86A-C64C-9EC8677D74CC}" dt="2026-05-19T13:06:56.429" v="56" actId="20577"/>
          <ac:spMkLst>
            <pc:docMk/>
            <pc:sldMk cId="0" sldId="266"/>
            <ac:spMk id="5" creationId="{00000000-0000-0000-0000-000000000000}"/>
          </ac:spMkLst>
        </pc:spChg>
        <pc:spChg chg="del">
          <ac:chgData name="Iban Olçomendy" userId="S::iban@fleeti.co::ab1e5fc8-0e2f-4a7d-b64d-f951c9a0399f" providerId="AD" clId="Web-{00E993E9-952C-F86A-C64C-9EC8677D74CC}" dt="2026-05-19T13:07:04.054" v="59"/>
          <ac:spMkLst>
            <pc:docMk/>
            <pc:sldMk cId="0" sldId="266"/>
            <ac:spMk id="6" creationId="{00000000-0000-0000-0000-000000000000}"/>
          </ac:spMkLst>
        </pc:spChg>
        <pc:spChg chg="del mod">
          <ac:chgData name="Iban Olçomendy" userId="S::iban@fleeti.co::ab1e5fc8-0e2f-4a7d-b64d-f951c9a0399f" providerId="AD" clId="Web-{00E993E9-952C-F86A-C64C-9EC8677D74CC}" dt="2026-05-19T13:07:09.679" v="61"/>
          <ac:spMkLst>
            <pc:docMk/>
            <pc:sldMk cId="0" sldId="266"/>
            <ac:spMk id="7" creationId="{00000000-0000-0000-0000-000000000000}"/>
          </ac:spMkLst>
        </pc:spChg>
        <pc:spChg chg="del">
          <ac:chgData name="Iban Olçomendy" userId="S::iban@fleeti.co::ab1e5fc8-0e2f-4a7d-b64d-f951c9a0399f" providerId="AD" clId="Web-{00E993E9-952C-F86A-C64C-9EC8677D74CC}" dt="2026-05-19T13:07:06.914" v="60"/>
          <ac:spMkLst>
            <pc:docMk/>
            <pc:sldMk cId="0" sldId="266"/>
            <ac:spMk id="8" creationId="{00000000-0000-0000-0000-000000000000}"/>
          </ac:spMkLst>
        </pc:spChg>
        <pc:picChg chg="add mod">
          <ac:chgData name="Iban Olçomendy" userId="S::iban@fleeti.co::ab1e5fc8-0e2f-4a7d-b64d-f951c9a0399f" providerId="AD" clId="Web-{00E993E9-952C-F86A-C64C-9EC8677D74CC}" dt="2026-05-19T13:09:18.728" v="79" actId="1076"/>
          <ac:picMkLst>
            <pc:docMk/>
            <pc:sldMk cId="0" sldId="266"/>
            <ac:picMk id="2" creationId="{A9AF08D0-F9F1-C2FC-85AC-EBD1A81FAAED}"/>
          </ac:picMkLst>
        </pc:picChg>
        <pc:picChg chg="add del mod">
          <ac:chgData name="Iban Olçomendy" userId="S::iban@fleeti.co::ab1e5fc8-0e2f-4a7d-b64d-f951c9a0399f" providerId="AD" clId="Web-{00E993E9-952C-F86A-C64C-9EC8677D74CC}" dt="2026-05-19T13:09:27.431" v="80"/>
          <ac:picMkLst>
            <pc:docMk/>
            <pc:sldMk cId="0" sldId="266"/>
            <ac:picMk id="25" creationId="{F7BDFC88-5C61-4432-4251-B4AE9D406F73}"/>
          </ac:picMkLst>
        </pc:picChg>
        <pc:picChg chg="add mod">
          <ac:chgData name="Iban Olçomendy" userId="S::iban@fleeti.co::ab1e5fc8-0e2f-4a7d-b64d-f951c9a0399f" providerId="AD" clId="Web-{00E993E9-952C-F86A-C64C-9EC8677D74CC}" dt="2026-05-19T13:08:59.540" v="72" actId="1076"/>
          <ac:picMkLst>
            <pc:docMk/>
            <pc:sldMk cId="0" sldId="266"/>
            <ac:picMk id="27" creationId="{614BED7D-5ED0-6E8F-A81E-2AC05916CC35}"/>
          </ac:picMkLst>
        </pc:picChg>
        <pc:picChg chg="add mod">
          <ac:chgData name="Iban Olçomendy" userId="S::iban@fleeti.co::ab1e5fc8-0e2f-4a7d-b64d-f951c9a0399f" providerId="AD" clId="Web-{00E993E9-952C-F86A-C64C-9EC8677D74CC}" dt="2026-05-19T13:08:49.477" v="68" actId="1076"/>
          <ac:picMkLst>
            <pc:docMk/>
            <pc:sldMk cId="0" sldId="266"/>
            <ac:picMk id="28" creationId="{7B693961-CA42-700A-25AE-F0C9739B7961}"/>
          </ac:picMkLst>
        </pc:picChg>
        <pc:picChg chg="add del mod">
          <ac:chgData name="Iban Olçomendy" userId="S::iban@fleeti.co::ab1e5fc8-0e2f-4a7d-b64d-f951c9a0399f" providerId="AD" clId="Web-{00E993E9-952C-F86A-C64C-9EC8677D74CC}" dt="2026-05-19T13:10:48.807" v="82"/>
          <ac:picMkLst>
            <pc:docMk/>
            <pc:sldMk cId="0" sldId="266"/>
            <ac:picMk id="29" creationId="{16ADF237-99A9-01C5-1BB7-9E1A8991750E}"/>
          </ac:picMkLst>
        </pc:picChg>
        <pc:picChg chg="add del mod">
          <ac:chgData name="Iban Olçomendy" userId="S::iban@fleeti.co::ab1e5fc8-0e2f-4a7d-b64d-f951c9a0399f" providerId="AD" clId="Web-{00E993E9-952C-F86A-C64C-9EC8677D74CC}" dt="2026-05-19T13:10:56.245" v="85"/>
          <ac:picMkLst>
            <pc:docMk/>
            <pc:sldMk cId="0" sldId="266"/>
            <ac:picMk id="30" creationId="{114CA53D-99CA-2135-C243-4336BAE0C3B3}"/>
          </ac:picMkLst>
        </pc:picChg>
        <pc:picChg chg="add del mod">
          <ac:chgData name="Iban Olçomendy" userId="S::iban@fleeti.co::ab1e5fc8-0e2f-4a7d-b64d-f951c9a0399f" providerId="AD" clId="Web-{00E993E9-952C-F86A-C64C-9EC8677D74CC}" dt="2026-05-19T13:11:01.463" v="87"/>
          <ac:picMkLst>
            <pc:docMk/>
            <pc:sldMk cId="0" sldId="266"/>
            <ac:picMk id="31" creationId="{3BCB9610-E2F9-29B8-9673-8E823D121081}"/>
          </ac:picMkLst>
        </pc:picChg>
        <pc:picChg chg="add mod">
          <ac:chgData name="Iban Olçomendy" userId="S::iban@fleeti.co::ab1e5fc8-0e2f-4a7d-b64d-f951c9a0399f" providerId="AD" clId="Web-{00E993E9-952C-F86A-C64C-9EC8677D74CC}" dt="2026-05-19T13:11:14.839" v="92" actId="14100"/>
          <ac:picMkLst>
            <pc:docMk/>
            <pc:sldMk cId="0" sldId="266"/>
            <ac:picMk id="32" creationId="{23D21068-A79A-9AEF-9D1F-48E4C942B871}"/>
          </ac:picMkLst>
        </pc:picChg>
        <pc:picChg chg="add mod">
          <ac:chgData name="Iban Olçomendy" userId="S::iban@fleeti.co::ab1e5fc8-0e2f-4a7d-b64d-f951c9a0399f" providerId="AD" clId="Web-{00E993E9-952C-F86A-C64C-9EC8677D74CC}" dt="2026-05-19T13:11:24.917" v="94" actId="1076"/>
          <ac:picMkLst>
            <pc:docMk/>
            <pc:sldMk cId="0" sldId="266"/>
            <ac:picMk id="33" creationId="{98DFFAC3-3021-AFC3-E28C-DCD1908F895B}"/>
          </ac:picMkLst>
        </pc:picChg>
        <pc:picChg chg="add mod">
          <ac:chgData name="Iban Olçomendy" userId="S::iban@fleeti.co::ab1e5fc8-0e2f-4a7d-b64d-f951c9a0399f" providerId="AD" clId="Web-{00E993E9-952C-F86A-C64C-9EC8677D74CC}" dt="2026-05-19T13:11:32.995" v="96" actId="1076"/>
          <ac:picMkLst>
            <pc:docMk/>
            <pc:sldMk cId="0" sldId="266"/>
            <ac:picMk id="34" creationId="{8194747E-AB2D-8DEC-6E84-01B5D5F90618}"/>
          </ac:picMkLst>
        </pc:picChg>
      </pc:sldChg>
    </pc:docChg>
  </pc:docChgLst>
  <pc:docChgLst>
    <pc:chgData name="Louise Duplaceau" userId="d59077a9-7bda-4a1a-aca1-6a67634bccbc" providerId="ADAL" clId="{9BF250BD-BC17-5464-B8A8-643AAF6B6C79}"/>
    <pc:docChg chg="undo custSel modSld">
      <pc:chgData name="Louise Duplaceau" userId="d59077a9-7bda-4a1a-aca1-6a67634bccbc" providerId="ADAL" clId="{9BF250BD-BC17-5464-B8A8-643AAF6B6C79}" dt="2026-05-20T06:06:32.440" v="158"/>
      <pc:docMkLst>
        <pc:docMk/>
      </pc:docMkLst>
      <pc:sldChg chg="addSp delSp modSp mod">
        <pc:chgData name="Louise Duplaceau" userId="d59077a9-7bda-4a1a-aca1-6a67634bccbc" providerId="ADAL" clId="{9BF250BD-BC17-5464-B8A8-643AAF6B6C79}" dt="2026-05-19T09:39:00.324" v="21" actId="1076"/>
        <pc:sldMkLst>
          <pc:docMk/>
          <pc:sldMk cId="0" sldId="256"/>
        </pc:sldMkLst>
        <pc:spChg chg="del">
          <ac:chgData name="Louise Duplaceau" userId="d59077a9-7bda-4a1a-aca1-6a67634bccbc" providerId="ADAL" clId="{9BF250BD-BC17-5464-B8A8-643AAF6B6C79}" dt="2026-05-19T09:08:55.338" v="1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Louise Duplaceau" userId="d59077a9-7bda-4a1a-aca1-6a67634bccbc" providerId="ADAL" clId="{9BF250BD-BC17-5464-B8A8-643AAF6B6C79}" dt="2026-05-19T09:08:54.517" v="0" actId="478"/>
          <ac:spMkLst>
            <pc:docMk/>
            <pc:sldMk cId="0" sldId="256"/>
            <ac:spMk id="18" creationId="{00000000-0000-0000-0000-000000000000}"/>
          </ac:spMkLst>
        </pc:spChg>
        <pc:spChg chg="add mod">
          <ac:chgData name="Louise Duplaceau" userId="d59077a9-7bda-4a1a-aca1-6a67634bccbc" providerId="ADAL" clId="{9BF250BD-BC17-5464-B8A8-643AAF6B6C79}" dt="2026-05-19T09:08:58.325" v="3" actId="14100"/>
          <ac:spMkLst>
            <pc:docMk/>
            <pc:sldMk cId="0" sldId="256"/>
            <ac:spMk id="40" creationId="{6CBD0E80-6AA9-E387-6757-3A9E6175D8DB}"/>
          </ac:spMkLst>
        </pc:spChg>
        <pc:spChg chg="add">
          <ac:chgData name="Louise Duplaceau" userId="d59077a9-7bda-4a1a-aca1-6a67634bccbc" providerId="ADAL" clId="{9BF250BD-BC17-5464-B8A8-643AAF6B6C79}" dt="2026-05-19T09:09:01.300" v="4"/>
          <ac:spMkLst>
            <pc:docMk/>
            <pc:sldMk cId="0" sldId="256"/>
            <ac:spMk id="41" creationId="{2F14B1E4-98CF-C6D1-BB90-59C4975C246C}"/>
          </ac:spMkLst>
        </pc:spChg>
        <pc:spChg chg="add">
          <ac:chgData name="Louise Duplaceau" userId="d59077a9-7bda-4a1a-aca1-6a67634bccbc" providerId="ADAL" clId="{9BF250BD-BC17-5464-B8A8-643AAF6B6C79}" dt="2026-05-19T09:09:07.983" v="5"/>
          <ac:spMkLst>
            <pc:docMk/>
            <pc:sldMk cId="0" sldId="256"/>
            <ac:spMk id="42" creationId="{E6C2861F-95EB-4229-1582-F1BD86718496}"/>
          </ac:spMkLst>
        </pc:spChg>
        <pc:spChg chg="add mod">
          <ac:chgData name="Louise Duplaceau" userId="d59077a9-7bda-4a1a-aca1-6a67634bccbc" providerId="ADAL" clId="{9BF250BD-BC17-5464-B8A8-643AAF6B6C79}" dt="2026-05-19T09:09:13.338" v="7" actId="14100"/>
          <ac:spMkLst>
            <pc:docMk/>
            <pc:sldMk cId="0" sldId="256"/>
            <ac:spMk id="43" creationId="{E08F3069-B849-C907-D8A0-859A1790A15F}"/>
          </ac:spMkLst>
        </pc:spChg>
        <pc:spChg chg="add">
          <ac:chgData name="Louise Duplaceau" userId="d59077a9-7bda-4a1a-aca1-6a67634bccbc" providerId="ADAL" clId="{9BF250BD-BC17-5464-B8A8-643AAF6B6C79}" dt="2026-05-19T09:09:31.085" v="8"/>
          <ac:spMkLst>
            <pc:docMk/>
            <pc:sldMk cId="0" sldId="256"/>
            <ac:spMk id="44" creationId="{982D4658-B3AB-561F-4F86-0470187C4016}"/>
          </ac:spMkLst>
        </pc:spChg>
        <pc:spChg chg="add mod">
          <ac:chgData name="Louise Duplaceau" userId="d59077a9-7bda-4a1a-aca1-6a67634bccbc" providerId="ADAL" clId="{9BF250BD-BC17-5464-B8A8-643AAF6B6C79}" dt="2026-05-19T09:10:21.955" v="10" actId="14100"/>
          <ac:spMkLst>
            <pc:docMk/>
            <pc:sldMk cId="0" sldId="256"/>
            <ac:spMk id="45" creationId="{FC0C731C-0C82-F1BA-586C-B42BC76377B6}"/>
          </ac:spMkLst>
        </pc:spChg>
        <pc:spChg chg="add mod">
          <ac:chgData name="Louise Duplaceau" userId="d59077a9-7bda-4a1a-aca1-6a67634bccbc" providerId="ADAL" clId="{9BF250BD-BC17-5464-B8A8-643AAF6B6C79}" dt="2026-05-19T09:10:27.869" v="12"/>
          <ac:spMkLst>
            <pc:docMk/>
            <pc:sldMk cId="0" sldId="256"/>
            <ac:spMk id="46" creationId="{88299C6B-DEE4-49FE-8E49-8315C29C728C}"/>
          </ac:spMkLst>
        </pc:spChg>
        <pc:picChg chg="add mod">
          <ac:chgData name="Louise Duplaceau" userId="d59077a9-7bda-4a1a-aca1-6a67634bccbc" providerId="ADAL" clId="{9BF250BD-BC17-5464-B8A8-643AAF6B6C79}" dt="2026-05-19T09:39:00.324" v="21" actId="1076"/>
          <ac:picMkLst>
            <pc:docMk/>
            <pc:sldMk cId="0" sldId="256"/>
            <ac:picMk id="48" creationId="{0430B9D8-3001-FA4F-3CE3-B1FBC8635CA1}"/>
          </ac:picMkLst>
        </pc:picChg>
      </pc:sldChg>
      <pc:sldChg chg="addSp delSp modSp mod">
        <pc:chgData name="Louise Duplaceau" userId="d59077a9-7bda-4a1a-aca1-6a67634bccbc" providerId="ADAL" clId="{9BF250BD-BC17-5464-B8A8-643AAF6B6C79}" dt="2026-05-20T06:06:32.440" v="158"/>
        <pc:sldMkLst>
          <pc:docMk/>
          <pc:sldMk cId="0" sldId="260"/>
        </pc:sldMkLst>
        <pc:spChg chg="del">
          <ac:chgData name="Louise Duplaceau" userId="d59077a9-7bda-4a1a-aca1-6a67634bccbc" providerId="ADAL" clId="{9BF250BD-BC17-5464-B8A8-643AAF6B6C79}" dt="2026-05-19T09:52:28.584" v="99" actId="478"/>
          <ac:spMkLst>
            <pc:docMk/>
            <pc:sldMk cId="0" sldId="260"/>
            <ac:spMk id="8" creationId="{00000000-0000-0000-0000-000000000000}"/>
          </ac:spMkLst>
        </pc:spChg>
        <pc:spChg chg="mod">
          <ac:chgData name="Louise Duplaceau" userId="d59077a9-7bda-4a1a-aca1-6a67634bccbc" providerId="ADAL" clId="{9BF250BD-BC17-5464-B8A8-643AAF6B6C79}" dt="2026-05-19T09:52:52.446" v="155" actId="1076"/>
          <ac:spMkLst>
            <pc:docMk/>
            <pc:sldMk cId="0" sldId="260"/>
            <ac:spMk id="9" creationId="{00000000-0000-0000-0000-000000000000}"/>
          </ac:spMkLst>
        </pc:spChg>
        <pc:spChg chg="add del mod">
          <ac:chgData name="Louise Duplaceau" userId="d59077a9-7bda-4a1a-aca1-6a67634bccbc" providerId="ADAL" clId="{9BF250BD-BC17-5464-B8A8-643AAF6B6C79}" dt="2026-05-20T06:06:32.440" v="158"/>
          <ac:spMkLst>
            <pc:docMk/>
            <pc:sldMk cId="0" sldId="260"/>
            <ac:spMk id="60" creationId="{B187EBE1-BACA-EA96-2707-49ECC8E6764B}"/>
          </ac:spMkLst>
        </pc:spChg>
        <pc:picChg chg="add mod">
          <ac:chgData name="Louise Duplaceau" userId="d59077a9-7bda-4a1a-aca1-6a67634bccbc" providerId="ADAL" clId="{9BF250BD-BC17-5464-B8A8-643AAF6B6C79}" dt="2026-05-19T09:52:47.609" v="153"/>
          <ac:picMkLst>
            <pc:docMk/>
            <pc:sldMk cId="0" sldId="260"/>
            <ac:picMk id="59" creationId="{8BA65B85-3A39-A130-50B7-ED3E6F558B1C}"/>
          </ac:picMkLst>
        </pc:picChg>
      </pc:sldChg>
      <pc:sldChg chg="addSp modSp mod">
        <pc:chgData name="Louise Duplaceau" userId="d59077a9-7bda-4a1a-aca1-6a67634bccbc" providerId="ADAL" clId="{9BF250BD-BC17-5464-B8A8-643AAF6B6C79}" dt="2026-05-19T09:45:03.874" v="83" actId="1076"/>
        <pc:sldMkLst>
          <pc:docMk/>
          <pc:sldMk cId="0" sldId="266"/>
        </pc:sldMkLst>
        <pc:spChg chg="mod">
          <ac:chgData name="Louise Duplaceau" userId="d59077a9-7bda-4a1a-aca1-6a67634bccbc" providerId="ADAL" clId="{9BF250BD-BC17-5464-B8A8-643AAF6B6C79}" dt="2026-05-19T09:44:44.091" v="72" actId="107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Louise Duplaceau" userId="d59077a9-7bda-4a1a-aca1-6a67634bccbc" providerId="ADAL" clId="{9BF250BD-BC17-5464-B8A8-643AAF6B6C79}" dt="2026-05-19T09:45:03.874" v="83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Louise Duplaceau" userId="d59077a9-7bda-4a1a-aca1-6a67634bccbc" providerId="ADAL" clId="{9BF250BD-BC17-5464-B8A8-643AAF6B6C79}" dt="2026-05-19T09:44:29.657" v="66" actId="107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Louise Duplaceau" userId="d59077a9-7bda-4a1a-aca1-6a67634bccbc" providerId="ADAL" clId="{9BF250BD-BC17-5464-B8A8-643AAF6B6C79}" dt="2026-05-19T09:44:59.203" v="82" actId="27636"/>
          <ac:spMkLst>
            <pc:docMk/>
            <pc:sldMk cId="0" sldId="266"/>
            <ac:spMk id="24" creationId="{00000000-0000-0000-0000-000000000000}"/>
          </ac:spMkLst>
        </pc:spChg>
        <pc:picChg chg="add mod">
          <ac:chgData name="Louise Duplaceau" userId="d59077a9-7bda-4a1a-aca1-6a67634bccbc" providerId="ADAL" clId="{9BF250BD-BC17-5464-B8A8-643AAF6B6C79}" dt="2026-05-19T09:44:41.406" v="71" actId="1076"/>
          <ac:picMkLst>
            <pc:docMk/>
            <pc:sldMk cId="0" sldId="266"/>
            <ac:picMk id="26" creationId="{C8D89A0C-523F-1CAC-2601-9EE6CA89A19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158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jp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47">
            <a:extLst>
              <a:ext uri="{FF2B5EF4-FFF2-40B4-BE49-F238E27FC236}">
                <a16:creationId xmlns:a16="http://schemas.microsoft.com/office/drawing/2014/main" id="{0430B9D8-3001-FA4F-3CE3-B1FBC8635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297" y="1112398"/>
            <a:ext cx="11397731" cy="8545952"/>
          </a:xfrm>
          <a:prstGeom prst="rect">
            <a:avLst/>
          </a:prstGeom>
        </p:spPr>
      </p:pic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685800"/>
            <a:ext cx="1929259" cy="60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99919" y="752475"/>
            <a:ext cx="29353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200" b="1" kern="0" spc="216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GÉNÉRALISTE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514393" y="1000125"/>
            <a:ext cx="29354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500" b="1" kern="0" spc="60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 2026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38200" y="2286000"/>
            <a:ext cx="5147518" cy="361950"/>
          </a:xfrm>
          <a:prstGeom prst="roundRect">
            <a:avLst>
              <a:gd name="adj" fmla="val 50000"/>
            </a:avLst>
          </a:prstGeom>
          <a:solidFill>
            <a:srgbClr val="1B8483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1009650" y="2428875"/>
            <a:ext cx="76200" cy="76200"/>
          </a:xfrm>
          <a:prstGeom prst="ellipse">
            <a:avLst/>
          </a:prstGeom>
          <a:solidFill>
            <a:srgbClr val="1B8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1219200" y="2381250"/>
            <a:ext cx="47328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1B8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TÉLÉMATIQUE · GESTION · ÉLECTRIFICATION · TCO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38200" y="2952750"/>
            <a:ext cx="8482160" cy="2981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100" b="1" kern="0" spc="-243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logiciel pour piloter </a:t>
            </a:r>
            <a:r>
              <a:rPr lang="en-US" sz="8100" b="1" kern="0" spc="-243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 </a:t>
            </a:r>
            <a:r>
              <a:rPr lang="en-US" sz="8100" b="1" kern="0" spc="-243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flotte.</a:t>
            </a:r>
            <a:endParaRPr lang="en-US" sz="8100" dirty="0"/>
          </a:p>
        </p:txBody>
      </p:sp>
      <p:sp>
        <p:nvSpPr>
          <p:cNvPr id="10" name="Text 7"/>
          <p:cNvSpPr/>
          <p:nvPr/>
        </p:nvSpPr>
        <p:spPr>
          <a:xfrm>
            <a:off x="838200" y="6200775"/>
            <a:ext cx="6278880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véhicule léger au poids lourd, thermique ou électrique · Fleeti centralise votre télématique, votre gestion administrative, vos contrats, vos sinistres et vos coûts dans une plateforme unique.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838200" y="7915275"/>
            <a:ext cx="1507331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DCE4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1023937" y="8024812"/>
            <a:ext cx="12120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 · VUL · PL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2440781" y="7915275"/>
            <a:ext cx="181228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DCE4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2626519" y="8024812"/>
            <a:ext cx="15170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 · INDUSTRIE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4348311" y="7915275"/>
            <a:ext cx="2648248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DCE4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534049" y="8024812"/>
            <a:ext cx="23562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THERMIQUE · ÉLECTRIQUE</a:t>
            </a:r>
            <a:endParaRPr lang="en-US" sz="1125" dirty="0"/>
          </a:p>
        </p:txBody>
      </p:sp>
      <p:sp>
        <p:nvSpPr>
          <p:cNvPr id="19" name="Shape 16"/>
          <p:cNvSpPr/>
          <p:nvPr/>
        </p:nvSpPr>
        <p:spPr>
          <a:xfrm>
            <a:off x="15428863" y="2243584"/>
            <a:ext cx="1754237" cy="400050"/>
          </a:xfrm>
          <a:prstGeom prst="roundRect">
            <a:avLst>
              <a:gd name="adj" fmla="val 50000"/>
            </a:avLst>
          </a:prstGeom>
          <a:solidFill>
            <a:srgbClr val="E63323">
              <a:alpha val="92000"/>
            </a:srgbClr>
          </a:solidFill>
          <a:ln/>
          <a:effectLst>
            <a:outerShdw blurRad="2286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15584802" y="2389999"/>
            <a:ext cx="107221" cy="107220"/>
          </a:xfrm>
          <a:prstGeom prst="ellipse">
            <a:avLst/>
          </a:prstGeom>
          <a:solidFill>
            <a:srgbClr val="FFFFFF">
              <a:alpha val="5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15771763" y="2357884"/>
            <a:ext cx="13159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· 247 véhicules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5198328" y="2891284"/>
            <a:ext cx="1984772" cy="361950"/>
          </a:xfrm>
          <a:prstGeom prst="roundRect">
            <a:avLst>
              <a:gd name="adj" fmla="val 50000"/>
            </a:avLst>
          </a:prstGeom>
          <a:solidFill>
            <a:srgbClr val="22875B">
              <a:alpha val="92000"/>
            </a:srgbClr>
          </a:solidFill>
          <a:ln/>
          <a:effectLst>
            <a:outerShdw blurRad="2286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15350728" y="2986534"/>
            <a:ext cx="175617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Économie carburant −20%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5454313" y="3500884"/>
            <a:ext cx="1728788" cy="361950"/>
          </a:xfrm>
          <a:prstGeom prst="roundRect">
            <a:avLst>
              <a:gd name="adj" fmla="val 50000"/>
            </a:avLst>
          </a:prstGeom>
          <a:solidFill>
            <a:srgbClr val="E89331">
              <a:alpha val="92000"/>
            </a:srgbClr>
          </a:solidFill>
          <a:ln/>
          <a:effectLst>
            <a:outerShdw blurRad="2286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15606713" y="3596134"/>
            <a:ext cx="150018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contrats à renouveler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873407" y="7329041"/>
            <a:ext cx="3649414" cy="104775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476250" dist="1905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10102007" y="7519541"/>
            <a:ext cx="328798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1B8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FLEETI · TCO TEMPS RÉEL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10102007" y="7738616"/>
            <a:ext cx="32879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flotte agrégé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0102007" y="8024366"/>
            <a:ext cx="328798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31313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Carburant · entretien · sinistres · loyers · amendes</a:t>
            </a:r>
            <a:endParaRPr lang="en-US" sz="1125" dirty="0"/>
          </a:p>
        </p:txBody>
      </p:sp>
      <p:sp>
        <p:nvSpPr>
          <p:cNvPr id="30" name="Shape 27"/>
          <p:cNvSpPr/>
          <p:nvPr/>
        </p:nvSpPr>
        <p:spPr>
          <a:xfrm>
            <a:off x="0" y="9172575"/>
            <a:ext cx="18288000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838200" y="9553575"/>
            <a:ext cx="47671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 · PLATEFORME DE GESTION DE FLOTTE 360°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700320" y="9534525"/>
            <a:ext cx="57522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0504140" y="9534525"/>
            <a:ext cx="1300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862816" y="9534525"/>
            <a:ext cx="60111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1692533" y="9534525"/>
            <a:ext cx="1300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2051209" y="9534525"/>
            <a:ext cx="6151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Afrique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6823978" y="9525000"/>
            <a:ext cx="7018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7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fleeti.co</a:t>
            </a:r>
            <a:endParaRPr lang="en-US" sz="1350" dirty="0"/>
          </a:p>
        </p:txBody>
      </p:sp>
      <p:sp>
        <p:nvSpPr>
          <p:cNvPr id="40" name="AutoShape 2">
            <a:extLst>
              <a:ext uri="{FF2B5EF4-FFF2-40B4-BE49-F238E27FC236}">
                <a16:creationId xmlns:a16="http://schemas.microsoft.com/office/drawing/2014/main" id="{6CBD0E80-6AA9-E387-6757-3A9E6175D8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-1964666"/>
            <a:ext cx="7260566" cy="7260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3" name="AutoShape 8">
            <a:extLst>
              <a:ext uri="{FF2B5EF4-FFF2-40B4-BE49-F238E27FC236}">
                <a16:creationId xmlns:a16="http://schemas.microsoft.com/office/drawing/2014/main" id="{E08F3069-B849-C907-D8A0-859A1790A1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-286628"/>
            <a:ext cx="5582528" cy="558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4" name="AutoShape 10">
            <a:extLst>
              <a:ext uri="{FF2B5EF4-FFF2-40B4-BE49-F238E27FC236}">
                <a16:creationId xmlns:a16="http://schemas.microsoft.com/office/drawing/2014/main" id="{982D4658-B3AB-561F-4F86-0470187C40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5" name="AutoShape 12">
            <a:extLst>
              <a:ext uri="{FF2B5EF4-FFF2-40B4-BE49-F238E27FC236}">
                <a16:creationId xmlns:a16="http://schemas.microsoft.com/office/drawing/2014/main" id="{FC0C731C-0C82-F1BA-586C-B42BC76377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3999" y="-782273"/>
            <a:ext cx="6230573" cy="6230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85800"/>
            <a:ext cx="1326356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9535" y="790575"/>
            <a:ext cx="24364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16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QUI SOMMES-NOUS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38200" y="1447800"/>
            <a:ext cx="171099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24" dirty="0">
                <a:solidFill>
                  <a:srgbClr val="1B8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SOMMES-NOUS ?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38200" y="1847850"/>
            <a:ext cx="17109948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100" b="1" kern="0" spc="-180" err="1">
                <a:solidFill>
                  <a:srgbClr val="224873"/>
                </a:solidFill>
                <a:latin typeface="Arial"/>
                <a:ea typeface="Arial" pitchFamily="34" charset="-122"/>
                <a:cs typeface="Arial"/>
              </a:rPr>
              <a:t>Fleeti</a:t>
            </a:r>
            <a:r>
              <a:rPr lang="en-US" sz="7100" b="1" kern="0" spc="-180">
                <a:solidFill>
                  <a:srgbClr val="224873"/>
                </a:solidFill>
                <a:latin typeface="Arial"/>
                <a:ea typeface="Arial" pitchFamily="34" charset="-122"/>
                <a:cs typeface="Arial"/>
              </a:rPr>
              <a:t>, la </a:t>
            </a:r>
            <a:r>
              <a:rPr lang="en-US" sz="7100" b="1" kern="0" spc="-180" err="1">
                <a:solidFill>
                  <a:srgbClr val="224873"/>
                </a:solidFill>
                <a:latin typeface="Arial"/>
                <a:ea typeface="Arial" pitchFamily="34" charset="-122"/>
                <a:cs typeface="Arial"/>
              </a:rPr>
              <a:t>plateforme</a:t>
            </a:r>
            <a:r>
              <a:rPr lang="en-US" sz="7100" b="1" kern="0" spc="-180">
                <a:solidFill>
                  <a:srgbClr val="224873"/>
                </a:solidFill>
                <a:latin typeface="Arial"/>
                <a:ea typeface="Arial" pitchFamily="34" charset="-122"/>
                <a:cs typeface="Arial"/>
              </a:rPr>
              <a:t> de gestion de </a:t>
            </a:r>
            <a:r>
              <a:rPr lang="en-US" sz="7100" b="1" kern="0" spc="-180" err="1">
                <a:solidFill>
                  <a:srgbClr val="224873"/>
                </a:solidFill>
                <a:latin typeface="Arial"/>
                <a:ea typeface="Arial" pitchFamily="34" charset="-122"/>
                <a:cs typeface="Arial"/>
              </a:rPr>
              <a:t>flotte</a:t>
            </a:r>
            <a:r>
              <a:rPr lang="en-US" sz="7100" b="1" kern="0" spc="-180">
                <a:solidFill>
                  <a:srgbClr val="22487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7100" b="1" kern="0" spc="-180">
                <a:solidFill>
                  <a:srgbClr val="3979C1"/>
                </a:solidFill>
                <a:latin typeface="Arial"/>
                <a:ea typeface="Arial" pitchFamily="34" charset="-122"/>
                <a:cs typeface="Arial"/>
              </a:rPr>
              <a:t>360°</a:t>
            </a:r>
            <a:r>
              <a:rPr lang="en-US" sz="7100" b="1" kern="0" spc="-180">
                <a:solidFill>
                  <a:srgbClr val="224873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7100">
              <a:latin typeface="Arial"/>
              <a:cs typeface="Arial"/>
            </a:endParaRPr>
          </a:p>
        </p:txBody>
      </p:sp>
      <p:sp>
        <p:nvSpPr>
          <p:cNvPr id="7" name="Text 4"/>
          <p:cNvSpPr/>
          <p:nvPr/>
        </p:nvSpPr>
        <p:spPr>
          <a:xfrm>
            <a:off x="838200" y="3943350"/>
            <a:ext cx="1373505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solution SaaS tout-en-un qui combine </a:t>
            </a:r>
            <a:r>
              <a:rPr lang="en-US" sz="1800" b="1" dirty="0">
                <a:solidFill>
                  <a:srgbClr val="22487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télématique embarquée, gestion de flotte, électrification et pilotage financier </a:t>
            </a:r>
            <a:r>
              <a:rPr lang="en-US" sz="1800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une plateforme unique. Conçue pour les entreprises françaises et européennes, elle s'adapte à toutes les typologies · voiture de société, VUL, poids lourd, engin de chantier, machine, véhicule électrique.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38200" y="5114925"/>
            <a:ext cx="84821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24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EMPREINTE &amp; MARCHÉS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38200" y="5476875"/>
            <a:ext cx="84821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31313">
                    <a:alpha val="8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où d'autres outils vous obligent à jongler entre cinq logiciels, Fleeti centralise tout en un seul endroit · de la géolocalisation au TCO.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38200" y="6429375"/>
            <a:ext cx="4031754" cy="140970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1114425" y="6667500"/>
            <a:ext cx="358368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-72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 · Europe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14425" y="7115175"/>
            <a:ext cx="358368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Présence internationale Afrique 7+ pays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41404" y="6429375"/>
            <a:ext cx="4031903" cy="140970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317629" y="6667500"/>
            <a:ext cx="35838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-72">
                <a:solidFill>
                  <a:srgbClr val="1B8483"/>
                </a:solidFill>
                <a:latin typeface="Arial"/>
                <a:ea typeface="Arial" pitchFamily="34" charset="-122"/>
                <a:cs typeface="Arial"/>
              </a:rPr>
              <a:t>4,8/5 ★</a:t>
            </a:r>
            <a:endParaRPr lang="en-US" sz="2000">
              <a:latin typeface="Arial"/>
              <a:cs typeface="Arial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317629" y="7115175"/>
            <a:ext cx="358383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moyenne clients sur l'ensemble de la base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38200" y="8010525"/>
            <a:ext cx="4031754" cy="14097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1114425" y="8248650"/>
            <a:ext cx="358368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-72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BTP · Logistique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135777" y="8620125"/>
            <a:ext cx="358368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Secteurs couverts + Industrie, Services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41404" y="8010525"/>
            <a:ext cx="4031903" cy="14097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5317629" y="8248650"/>
            <a:ext cx="35838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-72" dirty="0">
                <a:solidFill>
                  <a:srgbClr val="1B8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· UE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317629" y="8620125"/>
            <a:ext cx="358383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Fabriqué en Europe certifié, conformité RGPD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606707" y="5114925"/>
            <a:ext cx="7843093" cy="1409700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9882932" y="5334000"/>
            <a:ext cx="75093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MISSION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9882932" y="5572125"/>
            <a:ext cx="750936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27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outil pour piloter chaque actif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882932" y="5886450"/>
            <a:ext cx="750936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Donner aux gestionnaires de flotte français un outil unique, fiable et exhaustif · du deux-roues au 44 tonnes · sans changer de logiciel.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606707" y="6677025"/>
            <a:ext cx="7843093" cy="1409700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9882932" y="6896100"/>
            <a:ext cx="75093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1B8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VISION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9882932" y="7134225"/>
            <a:ext cx="750936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27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référence de la gestion mixte intelligente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882932" y="7448550"/>
            <a:ext cx="750936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en-US" sz="1200" dirty="0" err="1">
                <a:solidFill>
                  <a:srgbClr val="131313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Devenir</a:t>
            </a:r>
            <a:r>
              <a:rPr lang="en-US" sz="1200" dirty="0">
                <a:solidFill>
                  <a:srgbClr val="131313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 la </a:t>
            </a:r>
            <a:r>
              <a:rPr lang="en-US" sz="1200" dirty="0" err="1">
                <a:solidFill>
                  <a:srgbClr val="131313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référence</a:t>
            </a:r>
            <a:r>
              <a:rPr lang="en-US" sz="1200" dirty="0">
                <a:solidFill>
                  <a:srgbClr val="131313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 </a:t>
            </a:r>
            <a:r>
              <a:rPr lang="en-US" sz="1200" dirty="0" err="1">
                <a:solidFill>
                  <a:srgbClr val="131313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européenne</a:t>
            </a:r>
            <a:r>
              <a:rPr lang="en-US" sz="1200" dirty="0">
                <a:solidFill>
                  <a:srgbClr val="131313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 de la gestion de </a:t>
            </a:r>
            <a:r>
              <a:rPr lang="en-US" sz="1200" dirty="0" err="1">
                <a:solidFill>
                  <a:srgbClr val="131313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flotte</a:t>
            </a:r>
            <a:r>
              <a:rPr lang="en-US" sz="1200" dirty="0">
                <a:solidFill>
                  <a:srgbClr val="131313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 mixte, alliant </a:t>
            </a:r>
            <a:r>
              <a:rPr lang="en-US" sz="1200" dirty="0" err="1">
                <a:solidFill>
                  <a:srgbClr val="131313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télématique</a:t>
            </a:r>
            <a:r>
              <a:rPr lang="en-US" sz="1200" dirty="0">
                <a:solidFill>
                  <a:srgbClr val="131313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 temps </a:t>
            </a:r>
            <a:r>
              <a:rPr lang="en-US" sz="1200" dirty="0" err="1">
                <a:solidFill>
                  <a:srgbClr val="131313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réel</a:t>
            </a:r>
            <a:r>
              <a:rPr lang="en-US" sz="1200" dirty="0">
                <a:solidFill>
                  <a:srgbClr val="131313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, gestion administrative, pilotage financier et transition </a:t>
            </a:r>
            <a:r>
              <a:rPr lang="en-US" sz="1200" dirty="0" err="1">
                <a:solidFill>
                  <a:srgbClr val="131313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énergétique</a:t>
            </a:r>
            <a:r>
              <a:rPr lang="en-US" sz="1200" dirty="0">
                <a:solidFill>
                  <a:srgbClr val="131313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9606707" y="8239125"/>
            <a:ext cx="7843093" cy="1409700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9882932" y="8458200"/>
            <a:ext cx="75093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ENGAGEMENT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9882932" y="8696325"/>
            <a:ext cx="750936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27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Réduire le TCO, maîtriser la sinistralité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882932" y="9010650"/>
            <a:ext cx="750936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Fiabiliser les données et simplifier le quotidien des gestionnaires de flotte grâce à une plateforme IoT centralisée.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38200" y="9734550"/>
            <a:ext cx="25180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 · présentation généraliste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6804481" y="9734550"/>
            <a:ext cx="7215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fleeti.co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85800"/>
            <a:ext cx="1326356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654933" y="790575"/>
            <a:ext cx="187106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kern="0" spc="216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LE PROBLÈME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38200" y="1447800"/>
            <a:ext cx="171099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24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DÉFIS DES GESTIONNAIRES DE FLOTTE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38200" y="1847850"/>
            <a:ext cx="17109948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80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Gérer une flotte mixte aujourd'hui, c'est </a:t>
            </a:r>
            <a:r>
              <a:rPr lang="en-US" sz="7200" b="1" kern="0" spc="-180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jongler </a:t>
            </a:r>
            <a:r>
              <a:rPr lang="en-US" sz="7200" b="1" kern="0" spc="-180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permanence.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838200" y="3943350"/>
            <a:ext cx="137350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éparpillées, outils en silos, flotte hétérogène mal couverte, TCO inconnu, sinistralité subie. Les huit défis quotidiens du gestionnaire · chacun coûte du temps, de l'argent et de la sérénité.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838200" y="4914900"/>
            <a:ext cx="4024313" cy="2376488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430613" y="5133975"/>
            <a:ext cx="2699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14425" y="5172075"/>
            <a:ext cx="31467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en silos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114425" y="5524500"/>
            <a:ext cx="357601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125" dirty="0">
                <a:solidFill>
                  <a:srgbClr val="131313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logiciel pour la géoloc, un autre pour la maintenance, un autre pour les contrats… Aucune vision globale, des données éparpillées, du temps perdu en double saisie.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5033963" y="4914900"/>
            <a:ext cx="4024313" cy="2376488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8618190" y="5133975"/>
            <a:ext cx="2781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310188" y="5172075"/>
            <a:ext cx="314679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Flotte hétérogène mal couverte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310188" y="5762625"/>
            <a:ext cx="35760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125" dirty="0">
                <a:solidFill>
                  <a:srgbClr val="131313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solutions existantes gèrent bien les VL mais ignorent les poids lourds, les engins BTP ou les machines. Une partie de la flotte reste invisible.</a:t>
            </a:r>
            <a:endParaRPr lang="en-US" sz="1125" dirty="0"/>
          </a:p>
        </p:txBody>
      </p:sp>
      <p:sp>
        <p:nvSpPr>
          <p:cNvPr id="16" name="Shape 13"/>
          <p:cNvSpPr/>
          <p:nvPr/>
        </p:nvSpPr>
        <p:spPr>
          <a:xfrm>
            <a:off x="9229725" y="4914900"/>
            <a:ext cx="4024313" cy="2376488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12815441" y="5133975"/>
            <a:ext cx="27667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505950" y="5172075"/>
            <a:ext cx="31467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non maîtrisé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9505950" y="5524500"/>
            <a:ext cx="357601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125" dirty="0">
                <a:solidFill>
                  <a:srgbClr val="131313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centralisation (carburant, entretien, assurance, sinistres, loyers, amendes), le coût réel par véhicule est inconnu. Les renouvellements se prennent sans données.</a:t>
            </a:r>
            <a:endParaRPr lang="en-US" sz="1125" dirty="0"/>
          </a:p>
        </p:txBody>
      </p:sp>
      <p:sp>
        <p:nvSpPr>
          <p:cNvPr id="20" name="Shape 17"/>
          <p:cNvSpPr/>
          <p:nvPr/>
        </p:nvSpPr>
        <p:spPr>
          <a:xfrm>
            <a:off x="13425488" y="4914900"/>
            <a:ext cx="4024313" cy="2376488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17010013" y="5133975"/>
            <a:ext cx="2778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3701713" y="5172075"/>
            <a:ext cx="31467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Sinistralité subie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13701713" y="5524500"/>
            <a:ext cx="35760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125" dirty="0">
                <a:solidFill>
                  <a:srgbClr val="131313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Accidents mal documentés, déclarations tardives, recours perdus faute de preuves. La sinistralité pèse lourd sans qu'on sache précisément pourquoi.</a:t>
            </a:r>
            <a:endParaRPr lang="en-US" sz="1125" dirty="0"/>
          </a:p>
        </p:txBody>
      </p:sp>
      <p:sp>
        <p:nvSpPr>
          <p:cNvPr id="24" name="Shape 21"/>
          <p:cNvSpPr/>
          <p:nvPr/>
        </p:nvSpPr>
        <p:spPr>
          <a:xfrm>
            <a:off x="838200" y="7462838"/>
            <a:ext cx="4024313" cy="2138363"/>
          </a:xfrm>
          <a:prstGeom prst="roundRect">
            <a:avLst>
              <a:gd name="adj" fmla="val 7127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4425404" y="7681912"/>
            <a:ext cx="27518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114425" y="7720013"/>
            <a:ext cx="31467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Contrats LLD/LOA dispersés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114425" y="8072438"/>
            <a:ext cx="35760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125" dirty="0">
                <a:solidFill>
                  <a:srgbClr val="131313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Échéances suivies dans des tableurs, restitutions dans l'urgence, pénalités kilométriques découvertes trop tard.</a:t>
            </a:r>
            <a:endParaRPr lang="en-US" sz="1125" dirty="0"/>
          </a:p>
        </p:txBody>
      </p:sp>
      <p:sp>
        <p:nvSpPr>
          <p:cNvPr id="28" name="Shape 25"/>
          <p:cNvSpPr/>
          <p:nvPr/>
        </p:nvSpPr>
        <p:spPr>
          <a:xfrm>
            <a:off x="5033963" y="7462838"/>
            <a:ext cx="4024313" cy="2138363"/>
          </a:xfrm>
          <a:prstGeom prst="roundRect">
            <a:avLst>
              <a:gd name="adj" fmla="val 7127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8614470" y="7681912"/>
            <a:ext cx="2818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310188" y="7720013"/>
            <a:ext cx="31467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Fournisseurs non intégrés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5310188" y="8072438"/>
            <a:ext cx="35760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125" dirty="0">
                <a:solidFill>
                  <a:srgbClr val="131313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carburant, factures garages, péages, amendes ANTAI arrivent hors du logiciel. La réconciliation est manuelle et chronophage.</a:t>
            </a:r>
            <a:endParaRPr lang="en-US" sz="1125" dirty="0"/>
          </a:p>
        </p:txBody>
      </p:sp>
      <p:sp>
        <p:nvSpPr>
          <p:cNvPr id="32" name="Shape 29"/>
          <p:cNvSpPr/>
          <p:nvPr/>
        </p:nvSpPr>
        <p:spPr>
          <a:xfrm>
            <a:off x="9229725" y="7462838"/>
            <a:ext cx="4024313" cy="2138363"/>
          </a:xfrm>
          <a:prstGeom prst="roundRect">
            <a:avLst>
              <a:gd name="adj" fmla="val 7127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12814548" y="7681912"/>
            <a:ext cx="2775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9505950" y="7720013"/>
            <a:ext cx="31467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Électrification sans visibilité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9505950" y="8072438"/>
            <a:ext cx="35760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125" dirty="0">
                <a:solidFill>
                  <a:srgbClr val="131313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Quels véhicules peuvent passer à l'électrique ? Quelle autonomie suffit ? Sans données, ces décisions se prennent à l'aveugle.</a:t>
            </a:r>
            <a:endParaRPr lang="en-US" sz="1125" dirty="0"/>
          </a:p>
        </p:txBody>
      </p:sp>
      <p:sp>
        <p:nvSpPr>
          <p:cNvPr id="36" name="Shape 33"/>
          <p:cNvSpPr/>
          <p:nvPr/>
        </p:nvSpPr>
        <p:spPr>
          <a:xfrm>
            <a:off x="13425488" y="7462838"/>
            <a:ext cx="4024313" cy="2138363"/>
          </a:xfrm>
          <a:prstGeom prst="roundRect">
            <a:avLst>
              <a:gd name="adj" fmla="val 7127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17006143" y="7681912"/>
            <a:ext cx="2817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13701713" y="7720013"/>
            <a:ext cx="31467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à risque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3701713" y="8072438"/>
            <a:ext cx="35760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125" dirty="0">
                <a:solidFill>
                  <a:srgbClr val="131313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LOM, verdissement obligatoire, CSRD, permis, contrôles techniques : la conformité est complexe et source d'erreurs coûteuses.</a:t>
            </a:r>
            <a:endParaRPr lang="en-US" sz="1125" dirty="0"/>
          </a:p>
        </p:txBody>
      </p:sp>
      <p:sp>
        <p:nvSpPr>
          <p:cNvPr id="40" name="Text 37"/>
          <p:cNvSpPr/>
          <p:nvPr/>
        </p:nvSpPr>
        <p:spPr>
          <a:xfrm>
            <a:off x="838200" y="9734550"/>
            <a:ext cx="25180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 · présentation généraliste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6804481" y="9734550"/>
            <a:ext cx="7215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fleeti.co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85800"/>
            <a:ext cx="1326356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673685" y="790575"/>
            <a:ext cx="18523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16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LA SOLUTION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38200" y="1447800"/>
            <a:ext cx="171099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24" dirty="0">
                <a:solidFill>
                  <a:srgbClr val="1B8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SOLUTION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38200" y="1847850"/>
            <a:ext cx="17109948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10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 : la plateforme complète de la télématique au </a:t>
            </a:r>
            <a:r>
              <a:rPr lang="en-US" sz="5400" b="1" kern="0" spc="-108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</a:t>
            </a:r>
            <a:r>
              <a:rPr lang="en-US" sz="5400" b="1" kern="0" spc="-10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38200" y="3409950"/>
            <a:ext cx="1471612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force de Fleeti, c'est d'être le </a:t>
            </a:r>
            <a:r>
              <a:rPr lang="en-US" sz="1650" b="1" dirty="0">
                <a:solidFill>
                  <a:srgbClr val="22487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 outil dont vous avez besoin </a:t>
            </a:r>
            <a:r>
              <a:rPr lang="en-US" sz="1650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quelle que soit la composition de votre parc. VL thermique ou électrique, VUL, poids lourds, engins de chantier, machines : tout est géré sur la même plateforme, avec les mêmes tableaux de bord, les mêmes alertes, le même reporting. </a:t>
            </a:r>
            <a:r>
              <a:rPr lang="en-US" sz="1650" b="1" dirty="0">
                <a:solidFill>
                  <a:srgbClr val="22487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fonctionnalités </a:t>
            </a:r>
            <a:r>
              <a:rPr lang="en-US" sz="1650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regroupées en 7 grands blocs.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38200" y="4562475"/>
            <a:ext cx="4052888" cy="2452688"/>
          </a:xfrm>
          <a:prstGeom prst="roundRect">
            <a:avLst>
              <a:gd name="adj" fmla="val 6214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1076325" y="5086350"/>
            <a:ext cx="3576638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1076324" y="4710112"/>
            <a:ext cx="214732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7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Télématique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050060" y="4819650"/>
            <a:ext cx="6791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→ 04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74725" y="5191124"/>
            <a:ext cx="3754438" cy="1423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Géolocalisation temps réel · zones, alertes, historique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Comportement conducteur (vitesse, freinage, ralenti)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Consommation carburant &amp; énergie · litre/kWh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Heures moteur &amp; taux d'utilisation engins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4438" y="4562475"/>
            <a:ext cx="4052888" cy="2452688"/>
          </a:xfrm>
          <a:prstGeom prst="roundRect">
            <a:avLst>
              <a:gd name="adj" fmla="val 6214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5262563" y="5086350"/>
            <a:ext cx="3576638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262562" y="4710112"/>
            <a:ext cx="372221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7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administrative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36297" y="4819650"/>
            <a:ext cx="6791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→ 08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60963" y="5191124"/>
            <a:ext cx="3754438" cy="1423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 &amp; documents · carte grise, assurance, CT, permis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préventive &amp; prédictive · réseau garages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Conducteurs · affectation, scoring, app dédiée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· ANTAI, loi LOM, contrôles techniques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210675" y="4562475"/>
            <a:ext cx="4052888" cy="2452688"/>
          </a:xfrm>
          <a:prstGeom prst="roundRect">
            <a:avLst>
              <a:gd name="adj" fmla="val 6214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9448800" y="5086350"/>
            <a:ext cx="3576638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9448799" y="4710112"/>
            <a:ext cx="18548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7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Sinistralité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2422535" y="4819650"/>
            <a:ext cx="6791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→ 12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347200" y="5191124"/>
            <a:ext cx="3754438" cy="1423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Déclaration &amp; suivi · photos, géoloc, données du choc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Preuves télématiques pour les recours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&amp; scoring sinistralité par véhicule/conducteur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Réparations &amp; véhicules de remplacement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3396913" y="4562475"/>
            <a:ext cx="4052888" cy="2452688"/>
          </a:xfrm>
          <a:prstGeom prst="roundRect">
            <a:avLst>
              <a:gd name="adj" fmla="val 6214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13635038" y="5086350"/>
            <a:ext cx="3576638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13635037" y="4710112"/>
            <a:ext cx="40132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7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&amp; pilotage financier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6608772" y="4819650"/>
            <a:ext cx="6791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→ 16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3533438" y="5191124"/>
            <a:ext cx="3754438" cy="1423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temps réel · tous postes agrégés automatiquement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 · véhicules, sites, conducteurs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 à la décision de renouvellement data-driven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Avantages en nature · export prêt pour la paie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38200" y="7148513"/>
            <a:ext cx="4052888" cy="2452688"/>
          </a:xfrm>
          <a:prstGeom prst="roundRect">
            <a:avLst>
              <a:gd name="adj" fmla="val 6214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9" name="Shape 26"/>
          <p:cNvSpPr/>
          <p:nvPr/>
        </p:nvSpPr>
        <p:spPr>
          <a:xfrm>
            <a:off x="1076325" y="7672388"/>
            <a:ext cx="3576638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1076324" y="7296149"/>
            <a:ext cx="337309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7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Contrats de location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4050060" y="7405688"/>
            <a:ext cx="6791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→ 20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74725" y="7777162"/>
            <a:ext cx="3754438" cy="1423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LLD / LOA / crédit-bail · centralisation multi-loueurs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kilométrique contractuel temps réel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Anticipation des restitutions &amp; tacites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comparée ALD, Arval, LeasePlan…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024438" y="7148513"/>
            <a:ext cx="4052888" cy="2452688"/>
          </a:xfrm>
          <a:prstGeom prst="roundRect">
            <a:avLst>
              <a:gd name="adj" fmla="val 6214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1"/>
          <p:cNvSpPr/>
          <p:nvPr/>
        </p:nvSpPr>
        <p:spPr>
          <a:xfrm>
            <a:off x="5262563" y="7672388"/>
            <a:ext cx="3576638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5262561" y="7296149"/>
            <a:ext cx="41150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7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Intégrations fournisseurs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8236297" y="7405688"/>
            <a:ext cx="6791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→ 27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160963" y="7777162"/>
            <a:ext cx="3754438" cy="1423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/>
                <a:ea typeface="Arial" pitchFamily="34" charset="-122"/>
                <a:cs typeface="Arial"/>
              </a:rPr>
              <a:t>Cartes carburant · TotalEnergies, BP, DKV, </a:t>
            </a:r>
            <a:r>
              <a:rPr lang="en-US" sz="1200" dirty="0" err="1">
                <a:solidFill>
                  <a:srgbClr val="131313"/>
                </a:solidFill>
                <a:latin typeface="Arial"/>
                <a:ea typeface="Arial" pitchFamily="34" charset="-122"/>
                <a:cs typeface="Arial"/>
              </a:rPr>
              <a:t>Fleetcor</a:t>
            </a:r>
            <a:endParaRPr lang="en-US" sz="1200" dirty="0" err="1">
              <a:latin typeface="Arial"/>
              <a:cs typeface="Arial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/>
                <a:ea typeface="Arial" pitchFamily="34" charset="-122"/>
                <a:cs typeface="Arial"/>
              </a:rPr>
              <a:t>Cartes recharge VE · </a:t>
            </a:r>
            <a:r>
              <a:rPr lang="en-US" sz="1200" dirty="0" err="1">
                <a:solidFill>
                  <a:srgbClr val="131313"/>
                </a:solidFill>
                <a:latin typeface="Arial"/>
                <a:ea typeface="Arial" pitchFamily="34" charset="-122"/>
                <a:cs typeface="Arial"/>
              </a:rPr>
              <a:t>Chargemap</a:t>
            </a:r>
            <a:r>
              <a:rPr lang="en-US" sz="1200" dirty="0">
                <a:solidFill>
                  <a:srgbClr val="131313"/>
                </a:solidFill>
                <a:latin typeface="Arial"/>
                <a:ea typeface="Arial" pitchFamily="34" charset="-122"/>
                <a:cs typeface="Arial"/>
              </a:rPr>
              <a:t>, </a:t>
            </a:r>
            <a:r>
              <a:rPr lang="en-US" sz="1200" dirty="0" err="1">
                <a:solidFill>
                  <a:srgbClr val="131313"/>
                </a:solidFill>
                <a:latin typeface="Arial"/>
                <a:ea typeface="Arial" pitchFamily="34" charset="-122"/>
                <a:cs typeface="Arial"/>
              </a:rPr>
              <a:t>Izivia</a:t>
            </a:r>
            <a:r>
              <a:rPr lang="en-US" sz="1200" dirty="0">
                <a:solidFill>
                  <a:srgbClr val="131313"/>
                </a:solidFill>
                <a:latin typeface="Arial"/>
                <a:ea typeface="Arial" pitchFamily="34" charset="-122"/>
                <a:cs typeface="Arial"/>
              </a:rPr>
              <a:t>, </a:t>
            </a:r>
            <a:r>
              <a:rPr lang="en-US" sz="1200" dirty="0" err="1">
                <a:solidFill>
                  <a:srgbClr val="131313"/>
                </a:solidFill>
                <a:latin typeface="Arial"/>
                <a:ea typeface="Arial" pitchFamily="34" charset="-122"/>
                <a:cs typeface="Arial"/>
              </a:rPr>
              <a:t>Freshmile</a:t>
            </a:r>
            <a:endParaRPr lang="en-US" sz="1200" dirty="0" err="1">
              <a:latin typeface="Arial"/>
              <a:cs typeface="Arial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/>
                <a:ea typeface="Arial" pitchFamily="34" charset="-122"/>
                <a:cs typeface="Arial"/>
              </a:rPr>
              <a:t>Garages, </a:t>
            </a:r>
            <a:r>
              <a:rPr lang="en-US" sz="1200" dirty="0" err="1">
                <a:solidFill>
                  <a:srgbClr val="131313"/>
                </a:solidFill>
                <a:latin typeface="Arial"/>
                <a:ea typeface="Arial" pitchFamily="34" charset="-122"/>
                <a:cs typeface="Arial"/>
              </a:rPr>
              <a:t>assureurs</a:t>
            </a:r>
            <a:r>
              <a:rPr lang="en-US" sz="1200" dirty="0">
                <a:solidFill>
                  <a:srgbClr val="131313"/>
                </a:solidFill>
                <a:latin typeface="Arial"/>
                <a:ea typeface="Arial" pitchFamily="34" charset="-122"/>
                <a:cs typeface="Arial"/>
              </a:rPr>
              <a:t>, ANTAI, OEM </a:t>
            </a:r>
            <a:r>
              <a:rPr lang="en-US" sz="1200" dirty="0" err="1">
                <a:solidFill>
                  <a:srgbClr val="131313"/>
                </a:solidFill>
                <a:latin typeface="Arial"/>
                <a:ea typeface="Arial" pitchFamily="34" charset="-122"/>
                <a:cs typeface="Arial"/>
              </a:rPr>
              <a:t>constructeurs</a:t>
            </a:r>
            <a:endParaRPr lang="en-US" sz="1200" dirty="0" err="1">
              <a:latin typeface="Arial"/>
              <a:cs typeface="Arial"/>
            </a:endParaRPr>
          </a:p>
          <a:p>
            <a:pPr>
              <a:lnSpc>
                <a:spcPct val="135000"/>
              </a:lnSpc>
            </a:pPr>
            <a:endParaRPr lang="en-US" sz="1200" dirty="0">
              <a:solidFill>
                <a:srgbClr val="131313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9210675" y="7148513"/>
            <a:ext cx="4052888" cy="2452688"/>
          </a:xfrm>
          <a:prstGeom prst="roundRect">
            <a:avLst>
              <a:gd name="adj" fmla="val 6214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6"/>
          <p:cNvSpPr/>
          <p:nvPr/>
        </p:nvSpPr>
        <p:spPr>
          <a:xfrm>
            <a:off x="9448800" y="7672388"/>
            <a:ext cx="3576638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/>
          <p:nvPr/>
        </p:nvSpPr>
        <p:spPr>
          <a:xfrm>
            <a:off x="9448799" y="7296149"/>
            <a:ext cx="238721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7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Électrification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12422535" y="7405688"/>
            <a:ext cx="6791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→ 31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9347200" y="7777162"/>
            <a:ext cx="3754438" cy="1423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d'éligibilité à l'électrique data-driven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batterie &amp; autonomie temps réel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recharges &amp; optimisation des créneaux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 de décarbonation · émissions évitées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13396913" y="7148513"/>
            <a:ext cx="4052888" cy="2452688"/>
          </a:xfrm>
          <a:prstGeom prst="roundRect">
            <a:avLst>
              <a:gd name="adj" fmla="val 6214"/>
            </a:avLst>
          </a:prstGeom>
          <a:solidFill>
            <a:srgbClr val="224873"/>
          </a:solidFill>
          <a:ln/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Shape 41"/>
          <p:cNvSpPr/>
          <p:nvPr/>
        </p:nvSpPr>
        <p:spPr>
          <a:xfrm>
            <a:off x="13625513" y="7729538"/>
            <a:ext cx="3595688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2"/>
          <p:cNvSpPr/>
          <p:nvPr/>
        </p:nvSpPr>
        <p:spPr>
          <a:xfrm>
            <a:off x="13625513" y="7358063"/>
            <a:ext cx="24693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seule plateforme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6812071" y="7453312"/>
            <a:ext cx="4853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3625513" y="7834313"/>
            <a:ext cx="3703558" cy="833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1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 thermique, VL électrique, VUL, poids lourds, engins de chantier, machines industrielles · tout sur la même interface, sans changer d'outil.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13625513" y="8858250"/>
            <a:ext cx="3595688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6"/>
          <p:cNvSpPr/>
          <p:nvPr/>
        </p:nvSpPr>
        <p:spPr>
          <a:xfrm>
            <a:off x="13625513" y="8982075"/>
            <a:ext cx="370355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350" b="1" kern="0" spc="-13" dirty="0">
                <a:solidFill>
                  <a:srgbClr val="FFD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 les silos. </a:t>
            </a:r>
            <a:r>
              <a:rPr lang="en-US" sz="1350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 la double saisie.</a:t>
            </a:r>
            <a:endParaRPr lang="en-US" sz="1350" dirty="0"/>
          </a:p>
        </p:txBody>
      </p:sp>
      <p:sp>
        <p:nvSpPr>
          <p:cNvPr id="50" name="Text 47"/>
          <p:cNvSpPr/>
          <p:nvPr/>
        </p:nvSpPr>
        <p:spPr>
          <a:xfrm>
            <a:off x="838200" y="9734550"/>
            <a:ext cx="25180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 · présentation généraliste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6804481" y="9734550"/>
            <a:ext cx="7215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fleeti.co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58">
            <a:extLst>
              <a:ext uri="{FF2B5EF4-FFF2-40B4-BE49-F238E27FC236}">
                <a16:creationId xmlns:a16="http://schemas.microsoft.com/office/drawing/2014/main" id="{8BA65B85-3A39-A130-50B7-ED3E6F558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7742" y="1838257"/>
            <a:ext cx="6370677" cy="3886267"/>
          </a:xfrm>
          <a:prstGeom prst="round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07227" y="1870025"/>
            <a:ext cx="6672725" cy="3854499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14956036" y="4848225"/>
            <a:ext cx="2265164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blurRad="342900" dist="152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15165586" y="5000625"/>
            <a:ext cx="19222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DÉCARBONATION FLOTTE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5165586" y="5191125"/>
            <a:ext cx="192226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−42% émissions an 1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38200" y="6067425"/>
            <a:ext cx="4052888" cy="2447925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1076325" y="6286500"/>
            <a:ext cx="368393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01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1076325" y="6524624"/>
            <a:ext cx="3683937" cy="400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l'usage réel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076325" y="6848474"/>
            <a:ext cx="3683937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chaque véhicule : kilométrage journalier, zones, temps d'arrêt, habitudes de recharge potentielles.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76325" y="7943850"/>
            <a:ext cx="3576638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1076325" y="8048625"/>
            <a:ext cx="878681" cy="247650"/>
          </a:xfrm>
          <a:prstGeom prst="roundRect">
            <a:avLst>
              <a:gd name="adj" fmla="val 23077"/>
            </a:avLst>
          </a:prstGeom>
          <a:solidFill>
            <a:srgbClr val="22875B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1134963" y="8096250"/>
            <a:ext cx="141439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00" b="1" kern="0" spc="18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Télématique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993106" y="8048625"/>
            <a:ext cx="1268291" cy="247650"/>
          </a:xfrm>
          <a:prstGeom prst="roundRect">
            <a:avLst>
              <a:gd name="adj" fmla="val 23077"/>
            </a:avLst>
          </a:prstGeom>
          <a:solidFill>
            <a:srgbClr val="22875B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2088356" y="8086725"/>
            <a:ext cx="18493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18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usages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4438" y="6067425"/>
            <a:ext cx="4052888" cy="2447925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5262563" y="6286500"/>
            <a:ext cx="368393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02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5262563" y="6524625"/>
            <a:ext cx="36839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éligibles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262563" y="6848474"/>
            <a:ext cx="3683937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&amp; VUL d'abord, VUL &gt;3,5t selon tournées, PL en veille, engins chantier suivis sur heures moteur.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262563" y="7943850"/>
            <a:ext cx="3576638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5262563" y="8048625"/>
            <a:ext cx="676815" cy="247650"/>
          </a:xfrm>
          <a:prstGeom prst="roundRect">
            <a:avLst>
              <a:gd name="adj" fmla="val 23077"/>
            </a:avLst>
          </a:prstGeom>
          <a:solidFill>
            <a:srgbClr val="22875B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5301019" y="8096249"/>
            <a:ext cx="10862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· VUL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006405" y="8048625"/>
            <a:ext cx="656630" cy="247650"/>
          </a:xfrm>
          <a:prstGeom prst="roundRect">
            <a:avLst>
              <a:gd name="adj" fmla="val 23077"/>
            </a:avLst>
          </a:prstGeom>
          <a:solidFill>
            <a:srgbClr val="22875B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6050630" y="8096248"/>
            <a:ext cx="10291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18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· BTP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210675" y="6067425"/>
            <a:ext cx="4052888" cy="2447925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9448800" y="6286500"/>
            <a:ext cx="368393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03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9448800" y="6524625"/>
            <a:ext cx="368393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Piloter la flotte mixte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9448800" y="6848475"/>
            <a:ext cx="3683937" cy="1260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temps réel, alertes autonomie pré-mission, comparatif coût/100km thermique vs électrique, tableau décarbonation.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9448800" y="7943850"/>
            <a:ext cx="3576638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>
            <a:off x="9448800" y="8048625"/>
            <a:ext cx="663178" cy="247650"/>
          </a:xfrm>
          <a:prstGeom prst="roundRect">
            <a:avLst>
              <a:gd name="adj" fmla="val 23077"/>
            </a:avLst>
          </a:prstGeom>
          <a:solidFill>
            <a:srgbClr val="22875B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9481874" y="8096247"/>
            <a:ext cx="104159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live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10169128" y="8048625"/>
            <a:ext cx="578793" cy="247650"/>
          </a:xfrm>
          <a:prstGeom prst="roundRect">
            <a:avLst>
              <a:gd name="adj" fmla="val 23077"/>
            </a:avLst>
          </a:prstGeom>
          <a:solidFill>
            <a:srgbClr val="22875B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6"/>
          <p:cNvSpPr/>
          <p:nvPr/>
        </p:nvSpPr>
        <p:spPr>
          <a:xfrm>
            <a:off x="10207227" y="8096244"/>
            <a:ext cx="8814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13396913" y="6067425"/>
            <a:ext cx="4052888" cy="2447925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Text 38"/>
          <p:cNvSpPr/>
          <p:nvPr/>
        </p:nvSpPr>
        <p:spPr>
          <a:xfrm>
            <a:off x="13635038" y="6286500"/>
            <a:ext cx="368393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04</a:t>
            </a:r>
            <a:endParaRPr lang="en-US" sz="975" dirty="0"/>
          </a:p>
        </p:txBody>
      </p:sp>
      <p:sp>
        <p:nvSpPr>
          <p:cNvPr id="42" name="Text 39"/>
          <p:cNvSpPr/>
          <p:nvPr/>
        </p:nvSpPr>
        <p:spPr>
          <a:xfrm>
            <a:off x="13635038" y="6524625"/>
            <a:ext cx="368393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Gérer cartes &amp; énergies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13635038" y="6848474"/>
            <a:ext cx="3683937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Carburant (Total, BP, DKV) + recharge VE (Chargemap, Izivia, Belib) unifiés. Détection fraude temps réel.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13635038" y="7943850"/>
            <a:ext cx="3576638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2"/>
          <p:cNvSpPr/>
          <p:nvPr/>
        </p:nvSpPr>
        <p:spPr>
          <a:xfrm>
            <a:off x="13635038" y="8048625"/>
            <a:ext cx="554682" cy="247650"/>
          </a:xfrm>
          <a:prstGeom prst="roundRect">
            <a:avLst>
              <a:gd name="adj" fmla="val 23077"/>
            </a:avLst>
          </a:prstGeom>
          <a:solidFill>
            <a:srgbClr val="22875B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3"/>
          <p:cNvSpPr/>
          <p:nvPr/>
        </p:nvSpPr>
        <p:spPr>
          <a:xfrm>
            <a:off x="13673081" y="8096243"/>
            <a:ext cx="83570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14246870" y="8048625"/>
            <a:ext cx="918716" cy="247650"/>
          </a:xfrm>
          <a:prstGeom prst="roundRect">
            <a:avLst>
              <a:gd name="adj" fmla="val 23077"/>
            </a:avLst>
          </a:prstGeom>
          <a:solidFill>
            <a:srgbClr val="22875B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5"/>
          <p:cNvSpPr/>
          <p:nvPr/>
        </p:nvSpPr>
        <p:spPr>
          <a:xfrm>
            <a:off x="14342120" y="8086725"/>
            <a:ext cx="13446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00" b="1" kern="0" spc="18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Anti-fraude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838200" y="8686800"/>
            <a:ext cx="16611600" cy="914400"/>
          </a:xfrm>
          <a:prstGeom prst="roundRect">
            <a:avLst>
              <a:gd name="adj" fmla="val 18750"/>
            </a:avLst>
          </a:prstGeom>
          <a:solidFill>
            <a:srgbClr val="224873"/>
          </a:solidFill>
          <a:ln/>
          <a:effectLst>
            <a:outerShdw blurRad="457200" dist="228600" dir="5400000" algn="bl" rotWithShape="0">
              <a:srgbClr val="224873">
                <a:alpha val="4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0" name="Text 47"/>
          <p:cNvSpPr/>
          <p:nvPr/>
        </p:nvSpPr>
        <p:spPr>
          <a:xfrm>
            <a:off x="1143000" y="8896350"/>
            <a:ext cx="2432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FRANÇAISE</a:t>
            </a:r>
            <a:endParaRPr lang="en-US" sz="975" dirty="0"/>
          </a:p>
        </p:txBody>
      </p:sp>
      <p:sp>
        <p:nvSpPr>
          <p:cNvPr id="51" name="Text 48"/>
          <p:cNvSpPr/>
          <p:nvPr/>
        </p:nvSpPr>
        <p:spPr>
          <a:xfrm>
            <a:off x="1143000" y="9115425"/>
            <a:ext cx="24327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Obligations couvertes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3937695" y="9039225"/>
            <a:ext cx="17304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LOM · verdissement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030069" y="9039225"/>
            <a:ext cx="193789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Déclaration annuelle flotte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8329910" y="9039225"/>
            <a:ext cx="237574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b="1" dirty="0" err="1">
                <a:solidFill>
                  <a:srgbClr val="FFFFFF">
                    <a:alpha val="94000"/>
                  </a:srgbClr>
                </a:solidFill>
                <a:latin typeface="Arial"/>
                <a:cs typeface="Arial"/>
              </a:rPr>
              <a:t>Avantages</a:t>
            </a:r>
            <a:r>
              <a:rPr lang="en-US" sz="1200" b="1" dirty="0">
                <a:solidFill>
                  <a:srgbClr val="FFFFFF">
                    <a:alpha val="94000"/>
                  </a:srgbClr>
                </a:solidFill>
                <a:latin typeface="Arial"/>
                <a:cs typeface="Arial"/>
              </a:rPr>
              <a:t> </a:t>
            </a:r>
            <a:r>
              <a:rPr lang="en-US" sz="1200" b="1" dirty="0" err="1">
                <a:solidFill>
                  <a:srgbClr val="FFFFFF">
                    <a:alpha val="94000"/>
                  </a:srgbClr>
                </a:solidFill>
                <a:latin typeface="Arial"/>
                <a:cs typeface="Arial"/>
              </a:rPr>
              <a:t>en</a:t>
            </a:r>
            <a:r>
              <a:rPr lang="en-US" sz="1200" b="1" dirty="0">
                <a:solidFill>
                  <a:srgbClr val="FFFFFF">
                    <a:alpha val="94000"/>
                  </a:srgbClr>
                </a:solidFill>
                <a:latin typeface="Arial"/>
                <a:cs typeface="Arial"/>
              </a:rPr>
              <a:t> Nature (AEN)</a:t>
            </a: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11067604" y="9039225"/>
            <a:ext cx="237708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CSRD · reporting extra-financier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838200" y="9734550"/>
            <a:ext cx="25180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 · présentation généraliste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6804481" y="9734550"/>
            <a:ext cx="7215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fleeti.co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685800"/>
            <a:ext cx="1326356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06946" y="790575"/>
            <a:ext cx="364913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kern="0" spc="216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ÉLECTRIFICATION DES FLOTTES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38200" y="1447800"/>
            <a:ext cx="85223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24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ÉNERGÉTIQUE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38200" y="1847850"/>
            <a:ext cx="8522323" cy="2152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10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Électrifier votre flotte étape par étape, </a:t>
            </a:r>
            <a:r>
              <a:rPr lang="en-US" sz="5400" b="1" kern="0" spc="-108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la donnée</a:t>
            </a:r>
            <a:r>
              <a:rPr lang="en-US" sz="5400" b="1" kern="0" spc="-10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38200" y="4191000"/>
            <a:ext cx="8522323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loi LOM, Fit for 55, la CSRD imposent un calendrier. Mais la vraie question reste : </a:t>
            </a:r>
            <a:r>
              <a:rPr lang="en-US" sz="1950" b="1" dirty="0">
                <a:solidFill>
                  <a:srgbClr val="22487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où commencer ? </a:t>
            </a:r>
            <a:r>
              <a:rPr lang="en-US" sz="1950" dirty="0">
                <a:solidFill>
                  <a:srgbClr val="13131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 répond avec des données objectives, pas des intuitions · usage réel, autonomie, infrastructure, profils conducteurs.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85800"/>
            <a:ext cx="1326356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89373" y="790575"/>
            <a:ext cx="25366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kern="0" spc="216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SINISTRALITÉ &amp; TCO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38200" y="1447800"/>
            <a:ext cx="171099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24" dirty="0">
                <a:solidFill>
                  <a:srgbClr val="1B8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SINISTRALITÉ &amp; TCO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38200" y="1847850"/>
            <a:ext cx="17109948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10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leviers majeurs de coûts, enfin </a:t>
            </a:r>
            <a:r>
              <a:rPr lang="en-US" sz="5400" b="1" kern="0" spc="-108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pilotables</a:t>
            </a:r>
            <a:r>
              <a:rPr lang="en-US" sz="5400" b="1" kern="0" spc="-10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838200" y="3524250"/>
            <a:ext cx="8153400" cy="6400800"/>
          </a:xfrm>
          <a:prstGeom prst="roundRect">
            <a:avLst>
              <a:gd name="adj" fmla="val 3274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1190625" y="3914775"/>
            <a:ext cx="2712095" cy="314325"/>
          </a:xfrm>
          <a:prstGeom prst="roundRect">
            <a:avLst>
              <a:gd name="adj" fmla="val 50000"/>
            </a:avLst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1343025" y="3990975"/>
            <a:ext cx="24886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SINISTRALITÉ · COÛT CACHÉ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190625" y="4362450"/>
            <a:ext cx="7672007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b="1" kern="0" spc="-5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Documenter, prouver, former, anticiper.</a:t>
            </a:r>
            <a:endParaRPr lang="en-US" sz="2850" dirty="0"/>
          </a:p>
        </p:txBody>
      </p:sp>
      <p:sp>
        <p:nvSpPr>
          <p:cNvPr id="11" name="Shape 8"/>
          <p:cNvSpPr/>
          <p:nvPr/>
        </p:nvSpPr>
        <p:spPr>
          <a:xfrm>
            <a:off x="1190625" y="6581775"/>
            <a:ext cx="7448550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1190625" y="5314950"/>
            <a:ext cx="7448550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1190625" y="5495925"/>
            <a:ext cx="185678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800" b="1" kern="0" spc="-144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3-8K€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3104555" y="5467350"/>
            <a:ext cx="499575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31313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direct moyen d'un sinistre · jusqu'au double en coûts indirects (immobilisation, primes, productivité)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90625" y="6762750"/>
            <a:ext cx="767200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131313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outil dédié, ces coûts sont </a:t>
            </a:r>
            <a:r>
              <a:rPr lang="en-US" sz="1425" b="1" dirty="0">
                <a:solidFill>
                  <a:srgbClr val="224873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subis, pas pilotés </a:t>
            </a:r>
            <a:r>
              <a:rPr lang="en-US" sz="1425" dirty="0">
                <a:solidFill>
                  <a:srgbClr val="131313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Fleeti transforme la sinistralité en variable maîtrisable.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438275" y="7448550"/>
            <a:ext cx="74243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75" dirty="0">
                <a:solidFill>
                  <a:srgbClr val="131313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sinistre documenté avec données télématiques comme preuve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438275" y="7762875"/>
            <a:ext cx="74243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75" dirty="0">
                <a:solidFill>
                  <a:srgbClr val="131313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conducteur : identifier les profils à risque </a:t>
            </a:r>
            <a:r>
              <a:rPr lang="en-US" sz="1275" i="1" dirty="0">
                <a:solidFill>
                  <a:srgbClr val="131313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</a:t>
            </a:r>
            <a:r>
              <a:rPr lang="en-US" sz="1275" dirty="0">
                <a:solidFill>
                  <a:srgbClr val="131313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l'accident</a:t>
            </a:r>
            <a:endParaRPr lang="en-US" sz="1275" dirty="0"/>
          </a:p>
        </p:txBody>
      </p:sp>
      <p:sp>
        <p:nvSpPr>
          <p:cNvPr id="18" name="Text 15"/>
          <p:cNvSpPr/>
          <p:nvPr/>
        </p:nvSpPr>
        <p:spPr>
          <a:xfrm>
            <a:off x="1438275" y="8077200"/>
            <a:ext cx="74243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75" dirty="0">
                <a:solidFill>
                  <a:srgbClr val="131313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par véhicule : alerter sur les unités accidentogènes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438275" y="8391525"/>
            <a:ext cx="74243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75" dirty="0">
                <a:solidFill>
                  <a:srgbClr val="131313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Recours contre tiers facilités par les données horodatées et géolocalisées</a:t>
            </a:r>
            <a:endParaRPr lang="en-US" sz="1275" dirty="0"/>
          </a:p>
        </p:txBody>
      </p:sp>
      <p:sp>
        <p:nvSpPr>
          <p:cNvPr id="20" name="Shape 17"/>
          <p:cNvSpPr/>
          <p:nvPr/>
        </p:nvSpPr>
        <p:spPr>
          <a:xfrm>
            <a:off x="1190625" y="9067800"/>
            <a:ext cx="7448550" cy="466725"/>
          </a:xfrm>
          <a:prstGeom prst="roundRect">
            <a:avLst>
              <a:gd name="adj" fmla="val 24490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1362075" y="9134475"/>
            <a:ext cx="7329107" cy="400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24873"/>
                </a:solidFill>
                <a:highlight>
                  <a:srgbClr val="EAF1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Résultat : </a:t>
            </a:r>
            <a:r>
              <a:rPr lang="en-US" sz="1200" b="1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sinistralité divisée par 2 à 3 </a:t>
            </a:r>
            <a:r>
              <a:rPr lang="en-US" sz="1200" b="1" dirty="0">
                <a:solidFill>
                  <a:srgbClr val="224873"/>
                </a:solidFill>
                <a:highlight>
                  <a:srgbClr val="EAF1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chez les clients avec scoring + formation conducteur.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296400" y="3524250"/>
            <a:ext cx="8153400" cy="6400800"/>
          </a:xfrm>
          <a:prstGeom prst="roundRect">
            <a:avLst>
              <a:gd name="adj" fmla="val 3274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9648825" y="3914775"/>
            <a:ext cx="3645545" cy="314325"/>
          </a:xfrm>
          <a:prstGeom prst="roundRect">
            <a:avLst>
              <a:gd name="adj" fmla="val 50000"/>
            </a:avLst>
          </a:prstGeom>
          <a:solidFill>
            <a:srgbClr val="3979C1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9801225" y="3990975"/>
            <a:ext cx="345011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· VRAIE MESURE DE PERFORMANCE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9648825" y="4362450"/>
            <a:ext cx="7672007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b="1" kern="0" spc="-5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coût d'achat n'est que 40% du total.</a:t>
            </a:r>
            <a:endParaRPr lang="en-US" sz="2850" dirty="0"/>
          </a:p>
        </p:txBody>
      </p:sp>
      <p:sp>
        <p:nvSpPr>
          <p:cNvPr id="26" name="Shape 23"/>
          <p:cNvSpPr/>
          <p:nvPr/>
        </p:nvSpPr>
        <p:spPr>
          <a:xfrm>
            <a:off x="9648825" y="6772275"/>
            <a:ext cx="7448550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9648825" y="5314950"/>
            <a:ext cx="7448550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9648825" y="5495925"/>
            <a:ext cx="104626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800" b="1" kern="0" spc="-144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r>
              <a:rPr lang="en-US" sz="2700" b="1" kern="0" spc="-144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800" dirty="0"/>
          </a:p>
        </p:txBody>
      </p:sp>
      <p:sp>
        <p:nvSpPr>
          <p:cNvPr id="29" name="Text 26"/>
          <p:cNvSpPr/>
          <p:nvPr/>
        </p:nvSpPr>
        <p:spPr>
          <a:xfrm>
            <a:off x="10761126" y="5553075"/>
            <a:ext cx="499575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31313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coût total est invisible si carburant, entretien, sinistres, amendes, pneus, taxes ne sont pas centralisés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648825" y="6953250"/>
            <a:ext cx="1168003" cy="295275"/>
          </a:xfrm>
          <a:prstGeom prst="roundRect">
            <a:avLst>
              <a:gd name="adj" fmla="val 19355"/>
            </a:avLst>
          </a:prstGeom>
          <a:solidFill>
            <a:srgbClr val="F5F8FC"/>
          </a:solidFill>
          <a:ln w="9525">
            <a:solidFill>
              <a:srgbClr val="DCE4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9772650" y="7019925"/>
            <a:ext cx="99655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Loyers LLD/LOA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10873978" y="6953250"/>
            <a:ext cx="1554361" cy="295275"/>
          </a:xfrm>
          <a:prstGeom prst="roundRect">
            <a:avLst>
              <a:gd name="adj" fmla="val 19355"/>
            </a:avLst>
          </a:prstGeom>
          <a:solidFill>
            <a:srgbClr val="F5F8FC"/>
          </a:solidFill>
          <a:ln w="9525">
            <a:solidFill>
              <a:srgbClr val="DCE4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10997803" y="7019925"/>
            <a:ext cx="138291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Carburant &amp; électricité</a:t>
            </a:r>
            <a:endParaRPr lang="en-US" sz="975" dirty="0"/>
          </a:p>
        </p:txBody>
      </p:sp>
      <p:sp>
        <p:nvSpPr>
          <p:cNvPr id="34" name="Shape 31"/>
          <p:cNvSpPr/>
          <p:nvPr/>
        </p:nvSpPr>
        <p:spPr>
          <a:xfrm>
            <a:off x="12485489" y="6953250"/>
            <a:ext cx="1568202" cy="295275"/>
          </a:xfrm>
          <a:prstGeom prst="roundRect">
            <a:avLst>
              <a:gd name="adj" fmla="val 19355"/>
            </a:avLst>
          </a:prstGeom>
          <a:solidFill>
            <a:srgbClr val="F5F8FC"/>
          </a:solidFill>
          <a:ln w="9525">
            <a:solidFill>
              <a:srgbClr val="DCE4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12609314" y="7019925"/>
            <a:ext cx="139675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Entretien &amp; réparations</a:t>
            </a:r>
            <a:endParaRPr lang="en-US" sz="975" dirty="0"/>
          </a:p>
        </p:txBody>
      </p:sp>
      <p:sp>
        <p:nvSpPr>
          <p:cNvPr id="36" name="Shape 33"/>
          <p:cNvSpPr/>
          <p:nvPr/>
        </p:nvSpPr>
        <p:spPr>
          <a:xfrm>
            <a:off x="14110841" y="6953250"/>
            <a:ext cx="1465064" cy="295275"/>
          </a:xfrm>
          <a:prstGeom prst="roundRect">
            <a:avLst>
              <a:gd name="adj" fmla="val 19355"/>
            </a:avLst>
          </a:prstGeom>
          <a:solidFill>
            <a:srgbClr val="F5F8FC"/>
          </a:solidFill>
          <a:ln w="9525">
            <a:solidFill>
              <a:srgbClr val="DCE4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14234666" y="7019925"/>
            <a:ext cx="12936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Sinistres &amp; franchises</a:t>
            </a:r>
            <a:endParaRPr lang="en-US" sz="975" dirty="0"/>
          </a:p>
        </p:txBody>
      </p:sp>
      <p:sp>
        <p:nvSpPr>
          <p:cNvPr id="38" name="Shape 35"/>
          <p:cNvSpPr/>
          <p:nvPr/>
        </p:nvSpPr>
        <p:spPr>
          <a:xfrm>
            <a:off x="15633055" y="6953250"/>
            <a:ext cx="1354782" cy="295275"/>
          </a:xfrm>
          <a:prstGeom prst="roundRect">
            <a:avLst>
              <a:gd name="adj" fmla="val 19355"/>
            </a:avLst>
          </a:prstGeom>
          <a:solidFill>
            <a:srgbClr val="F5F8FC"/>
          </a:solidFill>
          <a:ln w="9525">
            <a:solidFill>
              <a:srgbClr val="DCE4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6"/>
          <p:cNvSpPr/>
          <p:nvPr/>
        </p:nvSpPr>
        <p:spPr>
          <a:xfrm>
            <a:off x="15756880" y="7019925"/>
            <a:ext cx="11833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Amendes &amp; péages</a:t>
            </a:r>
            <a:endParaRPr lang="en-US" sz="975" dirty="0"/>
          </a:p>
        </p:txBody>
      </p:sp>
      <p:sp>
        <p:nvSpPr>
          <p:cNvPr id="40" name="Shape 37"/>
          <p:cNvSpPr/>
          <p:nvPr/>
        </p:nvSpPr>
        <p:spPr>
          <a:xfrm>
            <a:off x="9648825" y="7305675"/>
            <a:ext cx="1597968" cy="295275"/>
          </a:xfrm>
          <a:prstGeom prst="roundRect">
            <a:avLst>
              <a:gd name="adj" fmla="val 19355"/>
            </a:avLst>
          </a:prstGeom>
          <a:solidFill>
            <a:srgbClr val="F5F8FC"/>
          </a:solidFill>
          <a:ln w="9525">
            <a:solidFill>
              <a:srgbClr val="DCE4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8"/>
          <p:cNvSpPr/>
          <p:nvPr/>
        </p:nvSpPr>
        <p:spPr>
          <a:xfrm>
            <a:off x="9772650" y="7372350"/>
            <a:ext cx="14265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Taxes TVS/TVTS, malus</a:t>
            </a:r>
            <a:endParaRPr lang="en-US" sz="975" dirty="0"/>
          </a:p>
        </p:txBody>
      </p:sp>
      <p:sp>
        <p:nvSpPr>
          <p:cNvPr id="42" name="Shape 39"/>
          <p:cNvSpPr/>
          <p:nvPr/>
        </p:nvSpPr>
        <p:spPr>
          <a:xfrm>
            <a:off x="11303943" y="7305675"/>
            <a:ext cx="1422053" cy="295275"/>
          </a:xfrm>
          <a:prstGeom prst="roundRect">
            <a:avLst>
              <a:gd name="adj" fmla="val 19355"/>
            </a:avLst>
          </a:prstGeom>
          <a:solidFill>
            <a:srgbClr val="F5F8FC"/>
          </a:solidFill>
          <a:ln w="9525">
            <a:solidFill>
              <a:srgbClr val="DCE4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0"/>
          <p:cNvSpPr/>
          <p:nvPr/>
        </p:nvSpPr>
        <p:spPr>
          <a:xfrm>
            <a:off x="11427768" y="7372350"/>
            <a:ext cx="125060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Avantages en nature</a:t>
            </a:r>
            <a:endParaRPr lang="en-US" sz="975" dirty="0"/>
          </a:p>
        </p:txBody>
      </p:sp>
      <p:sp>
        <p:nvSpPr>
          <p:cNvPr id="44" name="Text 41"/>
          <p:cNvSpPr/>
          <p:nvPr/>
        </p:nvSpPr>
        <p:spPr>
          <a:xfrm>
            <a:off x="9535478" y="7734300"/>
            <a:ext cx="7638098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75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postes agrégés automatiquement par rapprochement télématique</a:t>
            </a:r>
            <a:endParaRPr lang="en-US" sz="127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75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réel par véhicule, par mois, par kilomètre</a:t>
            </a:r>
            <a:endParaRPr lang="en-US" sz="127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75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Décisions de renouvellement basées sur des faits, pas des ressentis</a:t>
            </a:r>
            <a:endParaRPr lang="en-US" sz="127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75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Comparatif inter-sites, inter-conducteurs, inter-secteurs</a:t>
            </a:r>
            <a:endParaRPr lang="en-US" sz="1275" dirty="0"/>
          </a:p>
        </p:txBody>
      </p:sp>
      <p:sp>
        <p:nvSpPr>
          <p:cNvPr id="45" name="Shape 42"/>
          <p:cNvSpPr/>
          <p:nvPr/>
        </p:nvSpPr>
        <p:spPr>
          <a:xfrm>
            <a:off x="9648825" y="9067800"/>
            <a:ext cx="7448550" cy="466725"/>
          </a:xfrm>
          <a:prstGeom prst="roundRect">
            <a:avLst>
              <a:gd name="adj" fmla="val 24490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3"/>
          <p:cNvSpPr/>
          <p:nvPr/>
        </p:nvSpPr>
        <p:spPr>
          <a:xfrm>
            <a:off x="9820275" y="9134475"/>
            <a:ext cx="7329107" cy="400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24873"/>
                </a:solidFill>
                <a:highlight>
                  <a:srgbClr val="EAF1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Le TCO devient </a:t>
            </a:r>
            <a:r>
              <a:rPr lang="en-US" sz="1200" b="1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indicateur de pilotage</a:t>
            </a:r>
            <a:r>
              <a:rPr lang="en-US" sz="1200" b="1" dirty="0">
                <a:solidFill>
                  <a:srgbClr val="224873"/>
                </a:solidFill>
                <a:highlight>
                  <a:srgbClr val="EAF1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pas un calcul de fin d'année.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838200" y="9734550"/>
            <a:ext cx="25180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 · présentation généraliste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16804481" y="9734550"/>
            <a:ext cx="7215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fleeti.co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A2B769E2-A683-CDE7-5ACC-0294603C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85800"/>
            <a:ext cx="1326356" cy="419100"/>
          </a:xfrm>
          <a:prstGeom prst="rect">
            <a:avLst/>
          </a:prstGeom>
        </p:spPr>
      </p:pic>
      <p:sp>
        <p:nvSpPr>
          <p:cNvPr id="42" name="Text 1">
            <a:extLst>
              <a:ext uri="{FF2B5EF4-FFF2-40B4-BE49-F238E27FC236}">
                <a16:creationId xmlns:a16="http://schemas.microsoft.com/office/drawing/2014/main" id="{CD0D1849-AB09-6759-AE41-09E9351E59A4}"/>
              </a:ext>
            </a:extLst>
          </p:cNvPr>
          <p:cNvSpPr/>
          <p:nvPr/>
        </p:nvSpPr>
        <p:spPr>
          <a:xfrm>
            <a:off x="15063936" y="790575"/>
            <a:ext cx="24620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kern="0" spc="216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NOTRE DIFFÉRENCE</a:t>
            </a:r>
            <a:endParaRPr lang="en-US" sz="1200" dirty="0"/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E1912269-DBB0-7E53-92DF-C1A72F2459AD}"/>
              </a:ext>
            </a:extLst>
          </p:cNvPr>
          <p:cNvSpPr/>
          <p:nvPr/>
        </p:nvSpPr>
        <p:spPr>
          <a:xfrm>
            <a:off x="838200" y="1447800"/>
            <a:ext cx="171099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24" dirty="0">
                <a:solidFill>
                  <a:srgbClr val="1B8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DIFFÉRENCE</a:t>
            </a:r>
            <a:endParaRPr lang="en-US" sz="1350" dirty="0"/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EA0F77F8-4160-0323-A62F-CFCF2369F0C8}"/>
              </a:ext>
            </a:extLst>
          </p:cNvPr>
          <p:cNvSpPr/>
          <p:nvPr/>
        </p:nvSpPr>
        <p:spPr>
          <a:xfrm>
            <a:off x="838200" y="1771650"/>
            <a:ext cx="17109948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0" spc="-59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où d'autres couvrent </a:t>
            </a:r>
            <a:r>
              <a:rPr lang="en-US" sz="3300" b="1" kern="0" spc="-59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brique</a:t>
            </a:r>
            <a:r>
              <a:rPr lang="en-US" sz="3300" b="1" kern="0" spc="-59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Fleeti couvre </a:t>
            </a:r>
            <a:r>
              <a:rPr lang="en-US" sz="3300" b="1" kern="0" spc="-59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 la chaîne</a:t>
            </a:r>
            <a:r>
              <a:rPr lang="en-US" sz="3300" b="1" kern="0" spc="-59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300" dirty="0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4391DCD1-F280-0367-1363-E790CF9D12C9}"/>
              </a:ext>
            </a:extLst>
          </p:cNvPr>
          <p:cNvSpPr/>
          <p:nvPr/>
        </p:nvSpPr>
        <p:spPr>
          <a:xfrm>
            <a:off x="838200" y="2390775"/>
            <a:ext cx="16611600" cy="5457825"/>
          </a:xfrm>
          <a:prstGeom prst="roundRect">
            <a:avLst>
              <a:gd name="adj" fmla="val 3490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4E10CE0A-03EA-8958-9075-57A2FA1BF79E}"/>
              </a:ext>
            </a:extLst>
          </p:cNvPr>
          <p:cNvSpPr/>
          <p:nvPr/>
        </p:nvSpPr>
        <p:spPr>
          <a:xfrm>
            <a:off x="847725" y="2981325"/>
            <a:ext cx="394409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1D1EBE13-D2C5-9301-A054-4A29617A67C3}"/>
              </a:ext>
            </a:extLst>
          </p:cNvPr>
          <p:cNvSpPr/>
          <p:nvPr/>
        </p:nvSpPr>
        <p:spPr>
          <a:xfrm>
            <a:off x="2472659" y="2543175"/>
            <a:ext cx="7607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25" b="1" kern="0" spc="-6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Capacités</a:t>
            </a:r>
            <a:endParaRPr lang="en-US" sz="1125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6F1CA5AF-5436-33CB-3053-1EE2E3985CC8}"/>
              </a:ext>
            </a:extLst>
          </p:cNvPr>
          <p:cNvSpPr/>
          <p:nvPr/>
        </p:nvSpPr>
        <p:spPr>
          <a:xfrm>
            <a:off x="2209502" y="2752725"/>
            <a:ext cx="121101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825" kern="0" spc="33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DIMENSIONS CLÉS</a:t>
            </a:r>
            <a:endParaRPr lang="en-US" sz="825" dirty="0"/>
          </a:p>
        </p:txBody>
      </p:sp>
      <p:sp>
        <p:nvSpPr>
          <p:cNvPr id="49" name="Shape 8">
            <a:extLst>
              <a:ext uri="{FF2B5EF4-FFF2-40B4-BE49-F238E27FC236}">
                <a16:creationId xmlns:a16="http://schemas.microsoft.com/office/drawing/2014/main" id="{AFB20255-1743-97C7-D58B-D29A3DE46930}"/>
              </a:ext>
            </a:extLst>
          </p:cNvPr>
          <p:cNvSpPr/>
          <p:nvPr/>
        </p:nvSpPr>
        <p:spPr>
          <a:xfrm>
            <a:off x="4791819" y="2400300"/>
            <a:ext cx="2856012" cy="590550"/>
          </a:xfrm>
          <a:prstGeom prst="rect">
            <a:avLst/>
          </a:prstGeom>
          <a:solidFill>
            <a:srgbClr val="2248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12984816-08BE-9F9A-C479-73DB75E1925C}"/>
              </a:ext>
            </a:extLst>
          </p:cNvPr>
          <p:cNvSpPr/>
          <p:nvPr/>
        </p:nvSpPr>
        <p:spPr>
          <a:xfrm>
            <a:off x="4791819" y="2981325"/>
            <a:ext cx="2856012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10">
            <a:extLst>
              <a:ext uri="{FF2B5EF4-FFF2-40B4-BE49-F238E27FC236}">
                <a16:creationId xmlns:a16="http://schemas.microsoft.com/office/drawing/2014/main" id="{079B15FE-DAA5-B0EB-250B-B9DBB390F889}"/>
              </a:ext>
            </a:extLst>
          </p:cNvPr>
          <p:cNvSpPr/>
          <p:nvPr/>
        </p:nvSpPr>
        <p:spPr>
          <a:xfrm>
            <a:off x="7638306" y="2400300"/>
            <a:ext cx="9525" cy="590550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E3C5AD0A-DF44-7F5C-696B-F236D612083D}"/>
              </a:ext>
            </a:extLst>
          </p:cNvPr>
          <p:cNvSpPr/>
          <p:nvPr/>
        </p:nvSpPr>
        <p:spPr>
          <a:xfrm>
            <a:off x="6018829" y="2543175"/>
            <a:ext cx="468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25" b="1" kern="0" spc="-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</a:t>
            </a:r>
            <a:endParaRPr lang="en-US" sz="1125" dirty="0"/>
          </a:p>
        </p:txBody>
      </p:sp>
      <p:sp>
        <p:nvSpPr>
          <p:cNvPr id="53" name="Text 12">
            <a:extLst>
              <a:ext uri="{FF2B5EF4-FFF2-40B4-BE49-F238E27FC236}">
                <a16:creationId xmlns:a16="http://schemas.microsoft.com/office/drawing/2014/main" id="{BC49CC7E-D7DA-E092-47E9-A2AEB18D6D43}"/>
              </a:ext>
            </a:extLst>
          </p:cNvPr>
          <p:cNvSpPr/>
          <p:nvPr/>
        </p:nvSpPr>
        <p:spPr>
          <a:xfrm>
            <a:off x="5686127" y="2752725"/>
            <a:ext cx="105787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825" kern="0" spc="33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360°</a:t>
            </a:r>
            <a:endParaRPr lang="en-US" sz="825" dirty="0"/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E1618D38-EB78-B91A-EC87-3BB6A287842E}"/>
              </a:ext>
            </a:extLst>
          </p:cNvPr>
          <p:cNvSpPr/>
          <p:nvPr/>
        </p:nvSpPr>
        <p:spPr>
          <a:xfrm>
            <a:off x="7647831" y="2400300"/>
            <a:ext cx="2448074" cy="590550"/>
          </a:xfrm>
          <a:prstGeom prst="rect">
            <a:avLst/>
          </a:prstGeom>
          <a:solidFill>
            <a:srgbClr val="EAF1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14">
            <a:extLst>
              <a:ext uri="{FF2B5EF4-FFF2-40B4-BE49-F238E27FC236}">
                <a16:creationId xmlns:a16="http://schemas.microsoft.com/office/drawing/2014/main" id="{A4194DF4-C4A8-F941-E3B8-C8C5C38906BB}"/>
              </a:ext>
            </a:extLst>
          </p:cNvPr>
          <p:cNvSpPr/>
          <p:nvPr/>
        </p:nvSpPr>
        <p:spPr>
          <a:xfrm>
            <a:off x="7647831" y="298132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7699EB41-DD0D-C8DC-1E0C-B775A89BF49C}"/>
              </a:ext>
            </a:extLst>
          </p:cNvPr>
          <p:cNvSpPr/>
          <p:nvPr/>
        </p:nvSpPr>
        <p:spPr>
          <a:xfrm>
            <a:off x="10086380" y="2400300"/>
            <a:ext cx="9525" cy="590550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16">
            <a:extLst>
              <a:ext uri="{FF2B5EF4-FFF2-40B4-BE49-F238E27FC236}">
                <a16:creationId xmlns:a16="http://schemas.microsoft.com/office/drawing/2014/main" id="{DB41B1AD-01CE-EBD4-CDD4-5724307BBDA5}"/>
              </a:ext>
            </a:extLst>
          </p:cNvPr>
          <p:cNvSpPr/>
          <p:nvPr/>
        </p:nvSpPr>
        <p:spPr>
          <a:xfrm>
            <a:off x="8417040" y="2543175"/>
            <a:ext cx="9761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25" b="1" kern="0" spc="-6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Géoloc seule</a:t>
            </a:r>
            <a:endParaRPr lang="en-US" sz="1125" dirty="0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DD17036B-BC45-5295-98A4-4AF439684FB4}"/>
              </a:ext>
            </a:extLst>
          </p:cNvPr>
          <p:cNvSpPr/>
          <p:nvPr/>
        </p:nvSpPr>
        <p:spPr>
          <a:xfrm>
            <a:off x="8151763" y="2752725"/>
            <a:ext cx="143053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825" kern="0" spc="33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WEBFLEET, GEOTAB</a:t>
            </a:r>
            <a:endParaRPr lang="en-US" sz="825" dirty="0"/>
          </a:p>
        </p:txBody>
      </p:sp>
      <p:sp>
        <p:nvSpPr>
          <p:cNvPr id="59" name="Shape 18">
            <a:extLst>
              <a:ext uri="{FF2B5EF4-FFF2-40B4-BE49-F238E27FC236}">
                <a16:creationId xmlns:a16="http://schemas.microsoft.com/office/drawing/2014/main" id="{F9D05990-35DC-62BE-C079-8B747ED067FB}"/>
              </a:ext>
            </a:extLst>
          </p:cNvPr>
          <p:cNvSpPr/>
          <p:nvPr/>
        </p:nvSpPr>
        <p:spPr>
          <a:xfrm>
            <a:off x="10095905" y="2400300"/>
            <a:ext cx="2448074" cy="590550"/>
          </a:xfrm>
          <a:prstGeom prst="rect">
            <a:avLst/>
          </a:prstGeom>
          <a:solidFill>
            <a:srgbClr val="EAF1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19">
            <a:extLst>
              <a:ext uri="{FF2B5EF4-FFF2-40B4-BE49-F238E27FC236}">
                <a16:creationId xmlns:a16="http://schemas.microsoft.com/office/drawing/2014/main" id="{C9360B60-90F4-7756-DD31-78EE3A46A38E}"/>
              </a:ext>
            </a:extLst>
          </p:cNvPr>
          <p:cNvSpPr/>
          <p:nvPr/>
        </p:nvSpPr>
        <p:spPr>
          <a:xfrm>
            <a:off x="10095905" y="298132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20">
            <a:extLst>
              <a:ext uri="{FF2B5EF4-FFF2-40B4-BE49-F238E27FC236}">
                <a16:creationId xmlns:a16="http://schemas.microsoft.com/office/drawing/2014/main" id="{9A613ECB-AE76-086E-DC7F-CC57DA6C83CB}"/>
              </a:ext>
            </a:extLst>
          </p:cNvPr>
          <p:cNvSpPr/>
          <p:nvPr/>
        </p:nvSpPr>
        <p:spPr>
          <a:xfrm>
            <a:off x="12534454" y="2400300"/>
            <a:ext cx="9525" cy="590550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1985DF5C-A21D-4FAD-A9AC-2229E32A3AF1}"/>
              </a:ext>
            </a:extLst>
          </p:cNvPr>
          <p:cNvSpPr/>
          <p:nvPr/>
        </p:nvSpPr>
        <p:spPr>
          <a:xfrm>
            <a:off x="10774767" y="2543175"/>
            <a:ext cx="11568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25" b="1" kern="0" spc="-6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parc</a:t>
            </a:r>
            <a:endParaRPr lang="en-US" sz="1125" dirty="0"/>
          </a:p>
        </p:txBody>
      </p:sp>
      <p:sp>
        <p:nvSpPr>
          <p:cNvPr id="63" name="Text 22">
            <a:extLst>
              <a:ext uri="{FF2B5EF4-FFF2-40B4-BE49-F238E27FC236}">
                <a16:creationId xmlns:a16="http://schemas.microsoft.com/office/drawing/2014/main" id="{F078291A-F170-BE65-1D1A-72DB2C7B0283}"/>
              </a:ext>
            </a:extLst>
          </p:cNvPr>
          <p:cNvSpPr/>
          <p:nvPr/>
        </p:nvSpPr>
        <p:spPr>
          <a:xfrm>
            <a:off x="10674697" y="2752725"/>
            <a:ext cx="128081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algn="ctr">
              <a:lnSpc>
                <a:spcPct val="118000"/>
              </a:lnSpc>
            </a:pPr>
            <a:r>
              <a:rPr lang="en-US" sz="800" kern="0" spc="33" dirty="0">
                <a:solidFill>
                  <a:srgbClr val="89969E"/>
                </a:solidFill>
                <a:latin typeface="Arial"/>
                <a:ea typeface="Arial" pitchFamily="34" charset="-122"/>
                <a:cs typeface="Arial"/>
              </a:rPr>
              <a:t>TYPE GAC </a:t>
            </a:r>
            <a:r>
              <a:rPr lang="en-US" sz="800" kern="0" spc="33" dirty="0" err="1">
                <a:solidFill>
                  <a:srgbClr val="89969E"/>
                </a:solidFill>
                <a:latin typeface="Arial"/>
                <a:ea typeface="Arial" pitchFamily="34" charset="-122"/>
                <a:cs typeface="Arial"/>
              </a:rPr>
              <a:t>ou</a:t>
            </a:r>
            <a:r>
              <a:rPr lang="en-US" sz="800" kern="0" spc="33" dirty="0">
                <a:solidFill>
                  <a:srgbClr val="89969E"/>
                </a:solidFill>
                <a:latin typeface="Arial"/>
                <a:ea typeface="Arial" pitchFamily="34" charset="-122"/>
                <a:cs typeface="Arial"/>
              </a:rPr>
              <a:t> AVRIOS</a:t>
            </a:r>
            <a:endParaRPr lang="en-US" sz="825" dirty="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B4206009-0408-88EC-D657-8DE541AAA2AD}"/>
              </a:ext>
            </a:extLst>
          </p:cNvPr>
          <p:cNvSpPr/>
          <p:nvPr/>
        </p:nvSpPr>
        <p:spPr>
          <a:xfrm>
            <a:off x="12543979" y="2400300"/>
            <a:ext cx="2448074" cy="590550"/>
          </a:xfrm>
          <a:prstGeom prst="rect">
            <a:avLst/>
          </a:prstGeom>
          <a:solidFill>
            <a:srgbClr val="EAF1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24">
            <a:extLst>
              <a:ext uri="{FF2B5EF4-FFF2-40B4-BE49-F238E27FC236}">
                <a16:creationId xmlns:a16="http://schemas.microsoft.com/office/drawing/2014/main" id="{724DF0BE-8EA1-B85F-10A5-DC46909BB86D}"/>
              </a:ext>
            </a:extLst>
          </p:cNvPr>
          <p:cNvSpPr/>
          <p:nvPr/>
        </p:nvSpPr>
        <p:spPr>
          <a:xfrm>
            <a:off x="12543979" y="298132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25">
            <a:extLst>
              <a:ext uri="{FF2B5EF4-FFF2-40B4-BE49-F238E27FC236}">
                <a16:creationId xmlns:a16="http://schemas.microsoft.com/office/drawing/2014/main" id="{93235B84-C163-8D9E-FDAB-8001476457A5}"/>
              </a:ext>
            </a:extLst>
          </p:cNvPr>
          <p:cNvSpPr/>
          <p:nvPr/>
        </p:nvSpPr>
        <p:spPr>
          <a:xfrm>
            <a:off x="14982527" y="2400300"/>
            <a:ext cx="9525" cy="590550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Text 26">
            <a:extLst>
              <a:ext uri="{FF2B5EF4-FFF2-40B4-BE49-F238E27FC236}">
                <a16:creationId xmlns:a16="http://schemas.microsoft.com/office/drawing/2014/main" id="{5BB7DE55-3DAF-D6D6-BFD9-385BC979D2D2}"/>
              </a:ext>
            </a:extLst>
          </p:cNvPr>
          <p:cNvSpPr/>
          <p:nvPr/>
        </p:nvSpPr>
        <p:spPr>
          <a:xfrm>
            <a:off x="13223111" y="2543175"/>
            <a:ext cx="11564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25" b="1" kern="0" spc="-6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généraliste</a:t>
            </a:r>
            <a:endParaRPr lang="en-US" sz="1125" dirty="0"/>
          </a:p>
        </p:txBody>
      </p:sp>
      <p:sp>
        <p:nvSpPr>
          <p:cNvPr id="68" name="Text 27">
            <a:extLst>
              <a:ext uri="{FF2B5EF4-FFF2-40B4-BE49-F238E27FC236}">
                <a16:creationId xmlns:a16="http://schemas.microsoft.com/office/drawing/2014/main" id="{7F96843D-4ACD-B45B-0744-D99622780FD2}"/>
              </a:ext>
            </a:extLst>
          </p:cNvPr>
          <p:cNvSpPr/>
          <p:nvPr/>
        </p:nvSpPr>
        <p:spPr>
          <a:xfrm>
            <a:off x="13199269" y="2752725"/>
            <a:ext cx="112796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825" kern="0" spc="33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SAP, ORACLE, SAGE</a:t>
            </a:r>
            <a:endParaRPr lang="en-US" sz="825" dirty="0"/>
          </a:p>
        </p:txBody>
      </p:sp>
      <p:sp>
        <p:nvSpPr>
          <p:cNvPr id="69" name="Shape 28">
            <a:extLst>
              <a:ext uri="{FF2B5EF4-FFF2-40B4-BE49-F238E27FC236}">
                <a16:creationId xmlns:a16="http://schemas.microsoft.com/office/drawing/2014/main" id="{EF2FECD6-5C8D-91C3-DF67-8320A529159A}"/>
              </a:ext>
            </a:extLst>
          </p:cNvPr>
          <p:cNvSpPr/>
          <p:nvPr/>
        </p:nvSpPr>
        <p:spPr>
          <a:xfrm>
            <a:off x="14992052" y="2400300"/>
            <a:ext cx="2448074" cy="590550"/>
          </a:xfrm>
          <a:prstGeom prst="rect">
            <a:avLst/>
          </a:prstGeom>
          <a:solidFill>
            <a:srgbClr val="EAF1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29">
            <a:extLst>
              <a:ext uri="{FF2B5EF4-FFF2-40B4-BE49-F238E27FC236}">
                <a16:creationId xmlns:a16="http://schemas.microsoft.com/office/drawing/2014/main" id="{240057CE-51CF-130F-20CB-1DE36B59291F}"/>
              </a:ext>
            </a:extLst>
          </p:cNvPr>
          <p:cNvSpPr/>
          <p:nvPr/>
        </p:nvSpPr>
        <p:spPr>
          <a:xfrm>
            <a:off x="14992052" y="298132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Text 30">
            <a:extLst>
              <a:ext uri="{FF2B5EF4-FFF2-40B4-BE49-F238E27FC236}">
                <a16:creationId xmlns:a16="http://schemas.microsoft.com/office/drawing/2014/main" id="{BA6AC775-4DEA-350E-BAB0-98146059EF33}"/>
              </a:ext>
            </a:extLst>
          </p:cNvPr>
          <p:cNvSpPr/>
          <p:nvPr/>
        </p:nvSpPr>
        <p:spPr>
          <a:xfrm>
            <a:off x="15828384" y="2543175"/>
            <a:ext cx="8514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25" b="1" kern="0" spc="-6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Spécialisés</a:t>
            </a:r>
            <a:endParaRPr lang="en-US" sz="1125" dirty="0"/>
          </a:p>
        </p:txBody>
      </p:sp>
      <p:sp>
        <p:nvSpPr>
          <p:cNvPr id="72" name="Text 31">
            <a:extLst>
              <a:ext uri="{FF2B5EF4-FFF2-40B4-BE49-F238E27FC236}">
                <a16:creationId xmlns:a16="http://schemas.microsoft.com/office/drawing/2014/main" id="{CE444A48-5371-3814-A15F-DD1E6162793C}"/>
              </a:ext>
            </a:extLst>
          </p:cNvPr>
          <p:cNvSpPr/>
          <p:nvPr/>
        </p:nvSpPr>
        <p:spPr>
          <a:xfrm>
            <a:off x="15671304" y="2752725"/>
            <a:ext cx="108942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825" kern="0" spc="33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BRIQUE = 1 OUTIL</a:t>
            </a:r>
            <a:endParaRPr lang="en-US" sz="825" dirty="0"/>
          </a:p>
        </p:txBody>
      </p:sp>
      <p:sp>
        <p:nvSpPr>
          <p:cNvPr id="73" name="Shape 32">
            <a:extLst>
              <a:ext uri="{FF2B5EF4-FFF2-40B4-BE49-F238E27FC236}">
                <a16:creationId xmlns:a16="http://schemas.microsoft.com/office/drawing/2014/main" id="{7E1ED935-EA11-3D37-C962-C685C68DDCCD}"/>
              </a:ext>
            </a:extLst>
          </p:cNvPr>
          <p:cNvSpPr/>
          <p:nvPr/>
        </p:nvSpPr>
        <p:spPr>
          <a:xfrm>
            <a:off x="847725" y="2990850"/>
            <a:ext cx="3944094" cy="485775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33">
            <a:extLst>
              <a:ext uri="{FF2B5EF4-FFF2-40B4-BE49-F238E27FC236}">
                <a16:creationId xmlns:a16="http://schemas.microsoft.com/office/drawing/2014/main" id="{DFF83C3E-66E0-539D-46E8-8349386EA200}"/>
              </a:ext>
            </a:extLst>
          </p:cNvPr>
          <p:cNvSpPr/>
          <p:nvPr/>
        </p:nvSpPr>
        <p:spPr>
          <a:xfrm>
            <a:off x="847725" y="3467100"/>
            <a:ext cx="394409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34">
            <a:extLst>
              <a:ext uri="{FF2B5EF4-FFF2-40B4-BE49-F238E27FC236}">
                <a16:creationId xmlns:a16="http://schemas.microsoft.com/office/drawing/2014/main" id="{D33CAA06-5348-AB95-0CD6-3CB915565FED}"/>
              </a:ext>
            </a:extLst>
          </p:cNvPr>
          <p:cNvSpPr/>
          <p:nvPr/>
        </p:nvSpPr>
        <p:spPr>
          <a:xfrm>
            <a:off x="4782294" y="299085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Text 35">
            <a:extLst>
              <a:ext uri="{FF2B5EF4-FFF2-40B4-BE49-F238E27FC236}">
                <a16:creationId xmlns:a16="http://schemas.microsoft.com/office/drawing/2014/main" id="{129B0388-C638-26FE-3115-DA5B16FE40C4}"/>
              </a:ext>
            </a:extLst>
          </p:cNvPr>
          <p:cNvSpPr/>
          <p:nvPr/>
        </p:nvSpPr>
        <p:spPr>
          <a:xfrm>
            <a:off x="1000125" y="3095625"/>
            <a:ext cx="37480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2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Géolocalisation temps réel</a:t>
            </a:r>
            <a:endParaRPr lang="en-US" sz="1125" dirty="0"/>
          </a:p>
        </p:txBody>
      </p:sp>
      <p:sp>
        <p:nvSpPr>
          <p:cNvPr id="77" name="Shape 36">
            <a:extLst>
              <a:ext uri="{FF2B5EF4-FFF2-40B4-BE49-F238E27FC236}">
                <a16:creationId xmlns:a16="http://schemas.microsoft.com/office/drawing/2014/main" id="{3CBBA57F-E264-E1BC-B926-39D4ED39AA22}"/>
              </a:ext>
            </a:extLst>
          </p:cNvPr>
          <p:cNvSpPr/>
          <p:nvPr/>
        </p:nvSpPr>
        <p:spPr>
          <a:xfrm>
            <a:off x="4791819" y="2990850"/>
            <a:ext cx="2856012" cy="485775"/>
          </a:xfrm>
          <a:prstGeom prst="rect">
            <a:avLst/>
          </a:prstGeom>
          <a:solidFill>
            <a:srgbClr val="3979C1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67EDAB68-E90B-D35B-C863-9DF98DE6452A}"/>
              </a:ext>
            </a:extLst>
          </p:cNvPr>
          <p:cNvSpPr/>
          <p:nvPr/>
        </p:nvSpPr>
        <p:spPr>
          <a:xfrm>
            <a:off x="4791819" y="3467100"/>
            <a:ext cx="2856012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38">
            <a:extLst>
              <a:ext uri="{FF2B5EF4-FFF2-40B4-BE49-F238E27FC236}">
                <a16:creationId xmlns:a16="http://schemas.microsoft.com/office/drawing/2014/main" id="{E94A86C0-44F7-258E-FCEE-C30C09FFF899}"/>
              </a:ext>
            </a:extLst>
          </p:cNvPr>
          <p:cNvSpPr/>
          <p:nvPr/>
        </p:nvSpPr>
        <p:spPr>
          <a:xfrm>
            <a:off x="7638306" y="299085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E9BF3601-91E7-F424-A21F-6B89263DB79B}"/>
              </a:ext>
            </a:extLst>
          </p:cNvPr>
          <p:cNvSpPr/>
          <p:nvPr/>
        </p:nvSpPr>
        <p:spPr>
          <a:xfrm>
            <a:off x="6081713" y="3095625"/>
            <a:ext cx="266700" cy="266700"/>
          </a:xfrm>
          <a:prstGeom prst="ellipse">
            <a:avLst/>
          </a:prstGeom>
          <a:solidFill>
            <a:srgbClr val="2287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9EBE143F-D7E8-6E55-B455-A488C391B168}"/>
              </a:ext>
            </a:extLst>
          </p:cNvPr>
          <p:cNvSpPr/>
          <p:nvPr/>
        </p:nvSpPr>
        <p:spPr>
          <a:xfrm>
            <a:off x="6043613" y="30956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B09A2E83-4909-64B9-8EF6-0C9D35DA9CDB}"/>
              </a:ext>
            </a:extLst>
          </p:cNvPr>
          <p:cNvSpPr/>
          <p:nvPr/>
        </p:nvSpPr>
        <p:spPr>
          <a:xfrm>
            <a:off x="7647831" y="346710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Shape 42">
            <a:extLst>
              <a:ext uri="{FF2B5EF4-FFF2-40B4-BE49-F238E27FC236}">
                <a16:creationId xmlns:a16="http://schemas.microsoft.com/office/drawing/2014/main" id="{77FAFF04-D441-3287-452E-83EC6DE7AF60}"/>
              </a:ext>
            </a:extLst>
          </p:cNvPr>
          <p:cNvSpPr/>
          <p:nvPr/>
        </p:nvSpPr>
        <p:spPr>
          <a:xfrm>
            <a:off x="10086380" y="299085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Shape 43">
            <a:extLst>
              <a:ext uri="{FF2B5EF4-FFF2-40B4-BE49-F238E27FC236}">
                <a16:creationId xmlns:a16="http://schemas.microsoft.com/office/drawing/2014/main" id="{351E4E6D-78BF-BB4B-6BAF-B45652801C7B}"/>
              </a:ext>
            </a:extLst>
          </p:cNvPr>
          <p:cNvSpPr/>
          <p:nvPr/>
        </p:nvSpPr>
        <p:spPr>
          <a:xfrm>
            <a:off x="8733681" y="3095625"/>
            <a:ext cx="266700" cy="266700"/>
          </a:xfrm>
          <a:prstGeom prst="ellipse">
            <a:avLst/>
          </a:prstGeom>
          <a:solidFill>
            <a:srgbClr val="2287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Text 44">
            <a:extLst>
              <a:ext uri="{FF2B5EF4-FFF2-40B4-BE49-F238E27FC236}">
                <a16:creationId xmlns:a16="http://schemas.microsoft.com/office/drawing/2014/main" id="{9CCACDCD-78D5-9B3B-6ED5-ACBA89A1408D}"/>
              </a:ext>
            </a:extLst>
          </p:cNvPr>
          <p:cNvSpPr/>
          <p:nvPr/>
        </p:nvSpPr>
        <p:spPr>
          <a:xfrm>
            <a:off x="8695581" y="30956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6" name="Shape 45">
            <a:extLst>
              <a:ext uri="{FF2B5EF4-FFF2-40B4-BE49-F238E27FC236}">
                <a16:creationId xmlns:a16="http://schemas.microsoft.com/office/drawing/2014/main" id="{B3A4400F-E614-FEB9-2018-3B45D9D6D649}"/>
              </a:ext>
            </a:extLst>
          </p:cNvPr>
          <p:cNvSpPr/>
          <p:nvPr/>
        </p:nvSpPr>
        <p:spPr>
          <a:xfrm>
            <a:off x="10095905" y="346710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Shape 46">
            <a:extLst>
              <a:ext uri="{FF2B5EF4-FFF2-40B4-BE49-F238E27FC236}">
                <a16:creationId xmlns:a16="http://schemas.microsoft.com/office/drawing/2014/main" id="{0658AABA-DCDD-49BB-CCAC-A54974077DBB}"/>
              </a:ext>
            </a:extLst>
          </p:cNvPr>
          <p:cNvSpPr/>
          <p:nvPr/>
        </p:nvSpPr>
        <p:spPr>
          <a:xfrm>
            <a:off x="12534454" y="299085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Shape 47">
            <a:extLst>
              <a:ext uri="{FF2B5EF4-FFF2-40B4-BE49-F238E27FC236}">
                <a16:creationId xmlns:a16="http://schemas.microsoft.com/office/drawing/2014/main" id="{B5894C3B-C36D-F042-E840-03F2E6E204EA}"/>
              </a:ext>
            </a:extLst>
          </p:cNvPr>
          <p:cNvSpPr/>
          <p:nvPr/>
        </p:nvSpPr>
        <p:spPr>
          <a:xfrm>
            <a:off x="11181755" y="3095625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Text 48">
            <a:extLst>
              <a:ext uri="{FF2B5EF4-FFF2-40B4-BE49-F238E27FC236}">
                <a16:creationId xmlns:a16="http://schemas.microsoft.com/office/drawing/2014/main" id="{8FEA7BFD-6E9C-9395-7E44-A1598CB69A39}"/>
              </a:ext>
            </a:extLst>
          </p:cNvPr>
          <p:cNvSpPr/>
          <p:nvPr/>
        </p:nvSpPr>
        <p:spPr>
          <a:xfrm>
            <a:off x="11143655" y="30956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90" name="Shape 49">
            <a:extLst>
              <a:ext uri="{FF2B5EF4-FFF2-40B4-BE49-F238E27FC236}">
                <a16:creationId xmlns:a16="http://schemas.microsoft.com/office/drawing/2014/main" id="{AFB67C8A-CF22-AF51-2281-49B0588E6EB6}"/>
              </a:ext>
            </a:extLst>
          </p:cNvPr>
          <p:cNvSpPr/>
          <p:nvPr/>
        </p:nvSpPr>
        <p:spPr>
          <a:xfrm>
            <a:off x="12543979" y="346710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Shape 50">
            <a:extLst>
              <a:ext uri="{FF2B5EF4-FFF2-40B4-BE49-F238E27FC236}">
                <a16:creationId xmlns:a16="http://schemas.microsoft.com/office/drawing/2014/main" id="{3F056FAC-AB33-C637-817C-DF35000EF579}"/>
              </a:ext>
            </a:extLst>
          </p:cNvPr>
          <p:cNvSpPr/>
          <p:nvPr/>
        </p:nvSpPr>
        <p:spPr>
          <a:xfrm>
            <a:off x="14982527" y="299085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Shape 51">
            <a:extLst>
              <a:ext uri="{FF2B5EF4-FFF2-40B4-BE49-F238E27FC236}">
                <a16:creationId xmlns:a16="http://schemas.microsoft.com/office/drawing/2014/main" id="{FCAECD08-CCD9-3563-30C5-5EB402866CA9}"/>
              </a:ext>
            </a:extLst>
          </p:cNvPr>
          <p:cNvSpPr/>
          <p:nvPr/>
        </p:nvSpPr>
        <p:spPr>
          <a:xfrm>
            <a:off x="13629829" y="3095625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Text 52">
            <a:extLst>
              <a:ext uri="{FF2B5EF4-FFF2-40B4-BE49-F238E27FC236}">
                <a16:creationId xmlns:a16="http://schemas.microsoft.com/office/drawing/2014/main" id="{B3E69DB0-443E-409D-ABA1-B86DF18716B5}"/>
              </a:ext>
            </a:extLst>
          </p:cNvPr>
          <p:cNvSpPr/>
          <p:nvPr/>
        </p:nvSpPr>
        <p:spPr>
          <a:xfrm>
            <a:off x="13591729" y="30956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94" name="Shape 53">
            <a:extLst>
              <a:ext uri="{FF2B5EF4-FFF2-40B4-BE49-F238E27FC236}">
                <a16:creationId xmlns:a16="http://schemas.microsoft.com/office/drawing/2014/main" id="{2313B692-9310-00CF-EB10-C981B883BCC5}"/>
              </a:ext>
            </a:extLst>
          </p:cNvPr>
          <p:cNvSpPr/>
          <p:nvPr/>
        </p:nvSpPr>
        <p:spPr>
          <a:xfrm>
            <a:off x="14992052" y="346710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Shape 54">
            <a:extLst>
              <a:ext uri="{FF2B5EF4-FFF2-40B4-BE49-F238E27FC236}">
                <a16:creationId xmlns:a16="http://schemas.microsoft.com/office/drawing/2014/main" id="{2255FC19-1D47-A063-7220-C4A15E3BD9A0}"/>
              </a:ext>
            </a:extLst>
          </p:cNvPr>
          <p:cNvSpPr/>
          <p:nvPr/>
        </p:nvSpPr>
        <p:spPr>
          <a:xfrm>
            <a:off x="16082665" y="3095625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Text 55">
            <a:extLst>
              <a:ext uri="{FF2B5EF4-FFF2-40B4-BE49-F238E27FC236}">
                <a16:creationId xmlns:a16="http://schemas.microsoft.com/office/drawing/2014/main" id="{FEA958D2-5928-39D4-06C2-E54725F99B55}"/>
              </a:ext>
            </a:extLst>
          </p:cNvPr>
          <p:cNvSpPr/>
          <p:nvPr/>
        </p:nvSpPr>
        <p:spPr>
          <a:xfrm>
            <a:off x="16044565" y="30956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97" name="Shape 56">
            <a:extLst>
              <a:ext uri="{FF2B5EF4-FFF2-40B4-BE49-F238E27FC236}">
                <a16:creationId xmlns:a16="http://schemas.microsoft.com/office/drawing/2014/main" id="{BDB1D705-4E98-B685-A557-EA06DF79BD11}"/>
              </a:ext>
            </a:extLst>
          </p:cNvPr>
          <p:cNvSpPr/>
          <p:nvPr/>
        </p:nvSpPr>
        <p:spPr>
          <a:xfrm>
            <a:off x="847725" y="3476625"/>
            <a:ext cx="3944094" cy="485775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Shape 57">
            <a:extLst>
              <a:ext uri="{FF2B5EF4-FFF2-40B4-BE49-F238E27FC236}">
                <a16:creationId xmlns:a16="http://schemas.microsoft.com/office/drawing/2014/main" id="{9D99A789-4B95-E873-4C4A-77CC405062DA}"/>
              </a:ext>
            </a:extLst>
          </p:cNvPr>
          <p:cNvSpPr/>
          <p:nvPr/>
        </p:nvSpPr>
        <p:spPr>
          <a:xfrm>
            <a:off x="847725" y="3952875"/>
            <a:ext cx="394409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Shape 58">
            <a:extLst>
              <a:ext uri="{FF2B5EF4-FFF2-40B4-BE49-F238E27FC236}">
                <a16:creationId xmlns:a16="http://schemas.microsoft.com/office/drawing/2014/main" id="{E3E64E3B-F624-23CF-8432-372959C4B534}"/>
              </a:ext>
            </a:extLst>
          </p:cNvPr>
          <p:cNvSpPr/>
          <p:nvPr/>
        </p:nvSpPr>
        <p:spPr>
          <a:xfrm>
            <a:off x="4782294" y="347662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" name="Text 59">
            <a:extLst>
              <a:ext uri="{FF2B5EF4-FFF2-40B4-BE49-F238E27FC236}">
                <a16:creationId xmlns:a16="http://schemas.microsoft.com/office/drawing/2014/main" id="{7BE8FCC3-8EDB-492E-5950-3E8B8E2512FB}"/>
              </a:ext>
            </a:extLst>
          </p:cNvPr>
          <p:cNvSpPr/>
          <p:nvPr/>
        </p:nvSpPr>
        <p:spPr>
          <a:xfrm>
            <a:off x="1000125" y="3581400"/>
            <a:ext cx="37480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2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administrative &amp; documents</a:t>
            </a:r>
            <a:endParaRPr lang="en-US" sz="1125" dirty="0"/>
          </a:p>
        </p:txBody>
      </p:sp>
      <p:sp>
        <p:nvSpPr>
          <p:cNvPr id="101" name="Shape 60">
            <a:extLst>
              <a:ext uri="{FF2B5EF4-FFF2-40B4-BE49-F238E27FC236}">
                <a16:creationId xmlns:a16="http://schemas.microsoft.com/office/drawing/2014/main" id="{5D521EC8-7717-CEED-082F-D24643A6BDF5}"/>
              </a:ext>
            </a:extLst>
          </p:cNvPr>
          <p:cNvSpPr/>
          <p:nvPr/>
        </p:nvSpPr>
        <p:spPr>
          <a:xfrm>
            <a:off x="4791819" y="3476625"/>
            <a:ext cx="2856012" cy="485775"/>
          </a:xfrm>
          <a:prstGeom prst="rect">
            <a:avLst/>
          </a:prstGeom>
          <a:solidFill>
            <a:srgbClr val="3979C1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Shape 61">
            <a:extLst>
              <a:ext uri="{FF2B5EF4-FFF2-40B4-BE49-F238E27FC236}">
                <a16:creationId xmlns:a16="http://schemas.microsoft.com/office/drawing/2014/main" id="{EAABD9CA-3C3B-ACEA-CAAC-DA00200BDE36}"/>
              </a:ext>
            </a:extLst>
          </p:cNvPr>
          <p:cNvSpPr/>
          <p:nvPr/>
        </p:nvSpPr>
        <p:spPr>
          <a:xfrm>
            <a:off x="4791819" y="3952875"/>
            <a:ext cx="2856012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Shape 62">
            <a:extLst>
              <a:ext uri="{FF2B5EF4-FFF2-40B4-BE49-F238E27FC236}">
                <a16:creationId xmlns:a16="http://schemas.microsoft.com/office/drawing/2014/main" id="{5F1B61F3-48F1-763C-B379-3BA96CBF6DD0}"/>
              </a:ext>
            </a:extLst>
          </p:cNvPr>
          <p:cNvSpPr/>
          <p:nvPr/>
        </p:nvSpPr>
        <p:spPr>
          <a:xfrm>
            <a:off x="7638306" y="347662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4" name="Shape 63">
            <a:extLst>
              <a:ext uri="{FF2B5EF4-FFF2-40B4-BE49-F238E27FC236}">
                <a16:creationId xmlns:a16="http://schemas.microsoft.com/office/drawing/2014/main" id="{79A7B390-1977-97E7-1DB0-41AEA2D4C9A9}"/>
              </a:ext>
            </a:extLst>
          </p:cNvPr>
          <p:cNvSpPr/>
          <p:nvPr/>
        </p:nvSpPr>
        <p:spPr>
          <a:xfrm>
            <a:off x="6081713" y="3581400"/>
            <a:ext cx="266700" cy="266700"/>
          </a:xfrm>
          <a:prstGeom prst="ellipse">
            <a:avLst/>
          </a:prstGeom>
          <a:solidFill>
            <a:srgbClr val="2287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Text 64">
            <a:extLst>
              <a:ext uri="{FF2B5EF4-FFF2-40B4-BE49-F238E27FC236}">
                <a16:creationId xmlns:a16="http://schemas.microsoft.com/office/drawing/2014/main" id="{ADADC919-BF36-5F82-F856-3D7EC4D93E9E}"/>
              </a:ext>
            </a:extLst>
          </p:cNvPr>
          <p:cNvSpPr/>
          <p:nvPr/>
        </p:nvSpPr>
        <p:spPr>
          <a:xfrm>
            <a:off x="6043613" y="35814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6" name="Shape 65">
            <a:extLst>
              <a:ext uri="{FF2B5EF4-FFF2-40B4-BE49-F238E27FC236}">
                <a16:creationId xmlns:a16="http://schemas.microsoft.com/office/drawing/2014/main" id="{36DB5DC0-CE39-B490-54E9-5B1D3216BD51}"/>
              </a:ext>
            </a:extLst>
          </p:cNvPr>
          <p:cNvSpPr/>
          <p:nvPr/>
        </p:nvSpPr>
        <p:spPr>
          <a:xfrm>
            <a:off x="7647831" y="395287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Shape 66">
            <a:extLst>
              <a:ext uri="{FF2B5EF4-FFF2-40B4-BE49-F238E27FC236}">
                <a16:creationId xmlns:a16="http://schemas.microsoft.com/office/drawing/2014/main" id="{250204AD-6EBE-6608-F38D-EE9BBD2A7604}"/>
              </a:ext>
            </a:extLst>
          </p:cNvPr>
          <p:cNvSpPr/>
          <p:nvPr/>
        </p:nvSpPr>
        <p:spPr>
          <a:xfrm>
            <a:off x="10086380" y="347662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8" name="Shape 67">
            <a:extLst>
              <a:ext uri="{FF2B5EF4-FFF2-40B4-BE49-F238E27FC236}">
                <a16:creationId xmlns:a16="http://schemas.microsoft.com/office/drawing/2014/main" id="{BB440552-6B9A-E59C-F7A8-2417ADF48727}"/>
              </a:ext>
            </a:extLst>
          </p:cNvPr>
          <p:cNvSpPr/>
          <p:nvPr/>
        </p:nvSpPr>
        <p:spPr>
          <a:xfrm>
            <a:off x="8733681" y="3581400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9" name="Text 68">
            <a:extLst>
              <a:ext uri="{FF2B5EF4-FFF2-40B4-BE49-F238E27FC236}">
                <a16:creationId xmlns:a16="http://schemas.microsoft.com/office/drawing/2014/main" id="{C064F9FE-1C37-C89A-0A9D-ECE7B7B620F5}"/>
              </a:ext>
            </a:extLst>
          </p:cNvPr>
          <p:cNvSpPr/>
          <p:nvPr/>
        </p:nvSpPr>
        <p:spPr>
          <a:xfrm>
            <a:off x="8695581" y="35814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110" name="Shape 69">
            <a:extLst>
              <a:ext uri="{FF2B5EF4-FFF2-40B4-BE49-F238E27FC236}">
                <a16:creationId xmlns:a16="http://schemas.microsoft.com/office/drawing/2014/main" id="{054CAE0F-E46D-E9AB-58F5-C9FACEDCBFC7}"/>
              </a:ext>
            </a:extLst>
          </p:cNvPr>
          <p:cNvSpPr/>
          <p:nvPr/>
        </p:nvSpPr>
        <p:spPr>
          <a:xfrm>
            <a:off x="10095905" y="395287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1" name="Shape 70">
            <a:extLst>
              <a:ext uri="{FF2B5EF4-FFF2-40B4-BE49-F238E27FC236}">
                <a16:creationId xmlns:a16="http://schemas.microsoft.com/office/drawing/2014/main" id="{73A8E145-B6A3-2F7A-0876-2E17CA0501B9}"/>
              </a:ext>
            </a:extLst>
          </p:cNvPr>
          <p:cNvSpPr/>
          <p:nvPr/>
        </p:nvSpPr>
        <p:spPr>
          <a:xfrm>
            <a:off x="12534454" y="347662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2" name="Shape 71">
            <a:extLst>
              <a:ext uri="{FF2B5EF4-FFF2-40B4-BE49-F238E27FC236}">
                <a16:creationId xmlns:a16="http://schemas.microsoft.com/office/drawing/2014/main" id="{D5B44394-E191-665A-005F-1A1A130E371B}"/>
              </a:ext>
            </a:extLst>
          </p:cNvPr>
          <p:cNvSpPr/>
          <p:nvPr/>
        </p:nvSpPr>
        <p:spPr>
          <a:xfrm>
            <a:off x="11181755" y="3581400"/>
            <a:ext cx="266700" cy="266700"/>
          </a:xfrm>
          <a:prstGeom prst="ellipse">
            <a:avLst/>
          </a:prstGeom>
          <a:solidFill>
            <a:srgbClr val="2287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3" name="Text 72">
            <a:extLst>
              <a:ext uri="{FF2B5EF4-FFF2-40B4-BE49-F238E27FC236}">
                <a16:creationId xmlns:a16="http://schemas.microsoft.com/office/drawing/2014/main" id="{39396505-7BB2-73A5-47FC-FBFB8655184B}"/>
              </a:ext>
            </a:extLst>
          </p:cNvPr>
          <p:cNvSpPr/>
          <p:nvPr/>
        </p:nvSpPr>
        <p:spPr>
          <a:xfrm>
            <a:off x="11143655" y="35814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4" name="Shape 73">
            <a:extLst>
              <a:ext uri="{FF2B5EF4-FFF2-40B4-BE49-F238E27FC236}">
                <a16:creationId xmlns:a16="http://schemas.microsoft.com/office/drawing/2014/main" id="{2A793887-3A06-4104-14A6-EC5CBADB6549}"/>
              </a:ext>
            </a:extLst>
          </p:cNvPr>
          <p:cNvSpPr/>
          <p:nvPr/>
        </p:nvSpPr>
        <p:spPr>
          <a:xfrm>
            <a:off x="12543979" y="395287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5" name="Shape 74">
            <a:extLst>
              <a:ext uri="{FF2B5EF4-FFF2-40B4-BE49-F238E27FC236}">
                <a16:creationId xmlns:a16="http://schemas.microsoft.com/office/drawing/2014/main" id="{5AE8ACC2-9954-32D1-00FD-1676AD72F528}"/>
              </a:ext>
            </a:extLst>
          </p:cNvPr>
          <p:cNvSpPr/>
          <p:nvPr/>
        </p:nvSpPr>
        <p:spPr>
          <a:xfrm>
            <a:off x="14982527" y="347662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6" name="Shape 75">
            <a:extLst>
              <a:ext uri="{FF2B5EF4-FFF2-40B4-BE49-F238E27FC236}">
                <a16:creationId xmlns:a16="http://schemas.microsoft.com/office/drawing/2014/main" id="{66BD87A0-2134-DF09-AD39-3DDA1DC3945C}"/>
              </a:ext>
            </a:extLst>
          </p:cNvPr>
          <p:cNvSpPr/>
          <p:nvPr/>
        </p:nvSpPr>
        <p:spPr>
          <a:xfrm>
            <a:off x="13629829" y="3581400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7" name="Text 76">
            <a:extLst>
              <a:ext uri="{FF2B5EF4-FFF2-40B4-BE49-F238E27FC236}">
                <a16:creationId xmlns:a16="http://schemas.microsoft.com/office/drawing/2014/main" id="{12471F0E-5DB7-F41D-2426-1CAF67799FDE}"/>
              </a:ext>
            </a:extLst>
          </p:cNvPr>
          <p:cNvSpPr/>
          <p:nvPr/>
        </p:nvSpPr>
        <p:spPr>
          <a:xfrm>
            <a:off x="13591729" y="35814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118" name="Shape 77">
            <a:extLst>
              <a:ext uri="{FF2B5EF4-FFF2-40B4-BE49-F238E27FC236}">
                <a16:creationId xmlns:a16="http://schemas.microsoft.com/office/drawing/2014/main" id="{01196FE9-50C0-BC3D-B14D-E99B8E386946}"/>
              </a:ext>
            </a:extLst>
          </p:cNvPr>
          <p:cNvSpPr/>
          <p:nvPr/>
        </p:nvSpPr>
        <p:spPr>
          <a:xfrm>
            <a:off x="14992052" y="395287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9" name="Shape 78">
            <a:extLst>
              <a:ext uri="{FF2B5EF4-FFF2-40B4-BE49-F238E27FC236}">
                <a16:creationId xmlns:a16="http://schemas.microsoft.com/office/drawing/2014/main" id="{3B2235C6-E1FB-9878-1DD1-FCE187F325B0}"/>
              </a:ext>
            </a:extLst>
          </p:cNvPr>
          <p:cNvSpPr/>
          <p:nvPr/>
        </p:nvSpPr>
        <p:spPr>
          <a:xfrm>
            <a:off x="16082665" y="3581400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0" name="Text 79">
            <a:extLst>
              <a:ext uri="{FF2B5EF4-FFF2-40B4-BE49-F238E27FC236}">
                <a16:creationId xmlns:a16="http://schemas.microsoft.com/office/drawing/2014/main" id="{34C5F859-3965-211E-7466-92FC544EB878}"/>
              </a:ext>
            </a:extLst>
          </p:cNvPr>
          <p:cNvSpPr/>
          <p:nvPr/>
        </p:nvSpPr>
        <p:spPr>
          <a:xfrm>
            <a:off x="16044565" y="35814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121" name="Shape 80">
            <a:extLst>
              <a:ext uri="{FF2B5EF4-FFF2-40B4-BE49-F238E27FC236}">
                <a16:creationId xmlns:a16="http://schemas.microsoft.com/office/drawing/2014/main" id="{3212BFF0-49D2-F224-1A02-54CFBA0D1386}"/>
              </a:ext>
            </a:extLst>
          </p:cNvPr>
          <p:cNvSpPr/>
          <p:nvPr/>
        </p:nvSpPr>
        <p:spPr>
          <a:xfrm>
            <a:off x="847725" y="3962400"/>
            <a:ext cx="3944094" cy="485775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2" name="Shape 81">
            <a:extLst>
              <a:ext uri="{FF2B5EF4-FFF2-40B4-BE49-F238E27FC236}">
                <a16:creationId xmlns:a16="http://schemas.microsoft.com/office/drawing/2014/main" id="{C9AD5BCE-C4A7-D82F-D5E5-B2D620A5E48F}"/>
              </a:ext>
            </a:extLst>
          </p:cNvPr>
          <p:cNvSpPr/>
          <p:nvPr/>
        </p:nvSpPr>
        <p:spPr>
          <a:xfrm>
            <a:off x="847725" y="4438650"/>
            <a:ext cx="394409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3" name="Shape 82">
            <a:extLst>
              <a:ext uri="{FF2B5EF4-FFF2-40B4-BE49-F238E27FC236}">
                <a16:creationId xmlns:a16="http://schemas.microsoft.com/office/drawing/2014/main" id="{29925545-40E3-5FCC-B680-C1ABB5429A1A}"/>
              </a:ext>
            </a:extLst>
          </p:cNvPr>
          <p:cNvSpPr/>
          <p:nvPr/>
        </p:nvSpPr>
        <p:spPr>
          <a:xfrm>
            <a:off x="4782294" y="396240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4" name="Text 83">
            <a:extLst>
              <a:ext uri="{FF2B5EF4-FFF2-40B4-BE49-F238E27FC236}">
                <a16:creationId xmlns:a16="http://schemas.microsoft.com/office/drawing/2014/main" id="{5DC7EE93-1A00-EFBF-1E17-E269167A454E}"/>
              </a:ext>
            </a:extLst>
          </p:cNvPr>
          <p:cNvSpPr/>
          <p:nvPr/>
        </p:nvSpPr>
        <p:spPr>
          <a:xfrm>
            <a:off x="1000125" y="4067175"/>
            <a:ext cx="37480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2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Sinistralité &amp; scoring conducteur</a:t>
            </a:r>
            <a:endParaRPr lang="en-US" sz="1125" dirty="0"/>
          </a:p>
        </p:txBody>
      </p:sp>
      <p:sp>
        <p:nvSpPr>
          <p:cNvPr id="125" name="Shape 84">
            <a:extLst>
              <a:ext uri="{FF2B5EF4-FFF2-40B4-BE49-F238E27FC236}">
                <a16:creationId xmlns:a16="http://schemas.microsoft.com/office/drawing/2014/main" id="{463D6920-0BB3-E51C-13F0-42CC40366658}"/>
              </a:ext>
            </a:extLst>
          </p:cNvPr>
          <p:cNvSpPr/>
          <p:nvPr/>
        </p:nvSpPr>
        <p:spPr>
          <a:xfrm>
            <a:off x="4791819" y="3962400"/>
            <a:ext cx="2856012" cy="485775"/>
          </a:xfrm>
          <a:prstGeom prst="rect">
            <a:avLst/>
          </a:prstGeom>
          <a:solidFill>
            <a:srgbClr val="3979C1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6" name="Shape 85">
            <a:extLst>
              <a:ext uri="{FF2B5EF4-FFF2-40B4-BE49-F238E27FC236}">
                <a16:creationId xmlns:a16="http://schemas.microsoft.com/office/drawing/2014/main" id="{5C960AD3-8D0D-2843-8BC5-AB326E147039}"/>
              </a:ext>
            </a:extLst>
          </p:cNvPr>
          <p:cNvSpPr/>
          <p:nvPr/>
        </p:nvSpPr>
        <p:spPr>
          <a:xfrm>
            <a:off x="4791819" y="4438650"/>
            <a:ext cx="2856012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7" name="Shape 86">
            <a:extLst>
              <a:ext uri="{FF2B5EF4-FFF2-40B4-BE49-F238E27FC236}">
                <a16:creationId xmlns:a16="http://schemas.microsoft.com/office/drawing/2014/main" id="{13DDBC5D-82F0-8E87-702C-356D1AD73269}"/>
              </a:ext>
            </a:extLst>
          </p:cNvPr>
          <p:cNvSpPr/>
          <p:nvPr/>
        </p:nvSpPr>
        <p:spPr>
          <a:xfrm>
            <a:off x="7638306" y="396240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8" name="Shape 87">
            <a:extLst>
              <a:ext uri="{FF2B5EF4-FFF2-40B4-BE49-F238E27FC236}">
                <a16:creationId xmlns:a16="http://schemas.microsoft.com/office/drawing/2014/main" id="{B9A943EB-7E89-ED5D-DBED-3BEC15C3F1D6}"/>
              </a:ext>
            </a:extLst>
          </p:cNvPr>
          <p:cNvSpPr/>
          <p:nvPr/>
        </p:nvSpPr>
        <p:spPr>
          <a:xfrm>
            <a:off x="6081713" y="4067175"/>
            <a:ext cx="266700" cy="266700"/>
          </a:xfrm>
          <a:prstGeom prst="ellipse">
            <a:avLst/>
          </a:prstGeom>
          <a:solidFill>
            <a:srgbClr val="2287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9" name="Text 88">
            <a:extLst>
              <a:ext uri="{FF2B5EF4-FFF2-40B4-BE49-F238E27FC236}">
                <a16:creationId xmlns:a16="http://schemas.microsoft.com/office/drawing/2014/main" id="{3274C7AB-528B-462D-1878-105C9771F6C7}"/>
              </a:ext>
            </a:extLst>
          </p:cNvPr>
          <p:cNvSpPr/>
          <p:nvPr/>
        </p:nvSpPr>
        <p:spPr>
          <a:xfrm>
            <a:off x="6043613" y="40671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0" name="Shape 89">
            <a:extLst>
              <a:ext uri="{FF2B5EF4-FFF2-40B4-BE49-F238E27FC236}">
                <a16:creationId xmlns:a16="http://schemas.microsoft.com/office/drawing/2014/main" id="{65083F76-6332-62D0-A28B-DD26D89F30D4}"/>
              </a:ext>
            </a:extLst>
          </p:cNvPr>
          <p:cNvSpPr/>
          <p:nvPr/>
        </p:nvSpPr>
        <p:spPr>
          <a:xfrm>
            <a:off x="7647831" y="443865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1" name="Shape 90">
            <a:extLst>
              <a:ext uri="{FF2B5EF4-FFF2-40B4-BE49-F238E27FC236}">
                <a16:creationId xmlns:a16="http://schemas.microsoft.com/office/drawing/2014/main" id="{1F464CA4-A2A8-2706-B5FB-ACB4DF812E59}"/>
              </a:ext>
            </a:extLst>
          </p:cNvPr>
          <p:cNvSpPr/>
          <p:nvPr/>
        </p:nvSpPr>
        <p:spPr>
          <a:xfrm>
            <a:off x="10086380" y="396240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2" name="Shape 91">
            <a:extLst>
              <a:ext uri="{FF2B5EF4-FFF2-40B4-BE49-F238E27FC236}">
                <a16:creationId xmlns:a16="http://schemas.microsoft.com/office/drawing/2014/main" id="{FE9C18EE-67BC-47FA-551C-DE8171F3B3CB}"/>
              </a:ext>
            </a:extLst>
          </p:cNvPr>
          <p:cNvSpPr/>
          <p:nvPr/>
        </p:nvSpPr>
        <p:spPr>
          <a:xfrm>
            <a:off x="8733681" y="4067175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3" name="Text 92">
            <a:extLst>
              <a:ext uri="{FF2B5EF4-FFF2-40B4-BE49-F238E27FC236}">
                <a16:creationId xmlns:a16="http://schemas.microsoft.com/office/drawing/2014/main" id="{D7CB86FB-5ADF-0ABD-F883-84F0E8A59598}"/>
              </a:ext>
            </a:extLst>
          </p:cNvPr>
          <p:cNvSpPr/>
          <p:nvPr/>
        </p:nvSpPr>
        <p:spPr>
          <a:xfrm>
            <a:off x="8695581" y="40671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134" name="Shape 93">
            <a:extLst>
              <a:ext uri="{FF2B5EF4-FFF2-40B4-BE49-F238E27FC236}">
                <a16:creationId xmlns:a16="http://schemas.microsoft.com/office/drawing/2014/main" id="{00DE6831-F818-3B88-57DE-82F2851DAB72}"/>
              </a:ext>
            </a:extLst>
          </p:cNvPr>
          <p:cNvSpPr/>
          <p:nvPr/>
        </p:nvSpPr>
        <p:spPr>
          <a:xfrm>
            <a:off x="10095905" y="443865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5" name="Shape 94">
            <a:extLst>
              <a:ext uri="{FF2B5EF4-FFF2-40B4-BE49-F238E27FC236}">
                <a16:creationId xmlns:a16="http://schemas.microsoft.com/office/drawing/2014/main" id="{64333736-787B-B4C9-F259-AFD64775BD6C}"/>
              </a:ext>
            </a:extLst>
          </p:cNvPr>
          <p:cNvSpPr/>
          <p:nvPr/>
        </p:nvSpPr>
        <p:spPr>
          <a:xfrm>
            <a:off x="12534454" y="396240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6" name="Shape 95">
            <a:extLst>
              <a:ext uri="{FF2B5EF4-FFF2-40B4-BE49-F238E27FC236}">
                <a16:creationId xmlns:a16="http://schemas.microsoft.com/office/drawing/2014/main" id="{233D03C0-568A-BF11-F272-63FD009CDA3F}"/>
              </a:ext>
            </a:extLst>
          </p:cNvPr>
          <p:cNvSpPr/>
          <p:nvPr/>
        </p:nvSpPr>
        <p:spPr>
          <a:xfrm>
            <a:off x="11181755" y="4067175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7" name="Text 96">
            <a:extLst>
              <a:ext uri="{FF2B5EF4-FFF2-40B4-BE49-F238E27FC236}">
                <a16:creationId xmlns:a16="http://schemas.microsoft.com/office/drawing/2014/main" id="{13047B16-C6A4-1E76-C9C1-806D98D0B498}"/>
              </a:ext>
            </a:extLst>
          </p:cNvPr>
          <p:cNvSpPr/>
          <p:nvPr/>
        </p:nvSpPr>
        <p:spPr>
          <a:xfrm>
            <a:off x="11143655" y="40671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138" name="Shape 97">
            <a:extLst>
              <a:ext uri="{FF2B5EF4-FFF2-40B4-BE49-F238E27FC236}">
                <a16:creationId xmlns:a16="http://schemas.microsoft.com/office/drawing/2014/main" id="{E36744B6-20F9-CA53-E456-16DA57586B98}"/>
              </a:ext>
            </a:extLst>
          </p:cNvPr>
          <p:cNvSpPr/>
          <p:nvPr/>
        </p:nvSpPr>
        <p:spPr>
          <a:xfrm>
            <a:off x="12543979" y="443865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9" name="Shape 98">
            <a:extLst>
              <a:ext uri="{FF2B5EF4-FFF2-40B4-BE49-F238E27FC236}">
                <a16:creationId xmlns:a16="http://schemas.microsoft.com/office/drawing/2014/main" id="{05BFA295-3882-47CF-71BD-E49893CF6E31}"/>
              </a:ext>
            </a:extLst>
          </p:cNvPr>
          <p:cNvSpPr/>
          <p:nvPr/>
        </p:nvSpPr>
        <p:spPr>
          <a:xfrm>
            <a:off x="14982527" y="396240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0" name="Shape 99">
            <a:extLst>
              <a:ext uri="{FF2B5EF4-FFF2-40B4-BE49-F238E27FC236}">
                <a16:creationId xmlns:a16="http://schemas.microsoft.com/office/drawing/2014/main" id="{A2962F9A-34E1-12EB-189C-B36FD1C84CB6}"/>
              </a:ext>
            </a:extLst>
          </p:cNvPr>
          <p:cNvSpPr/>
          <p:nvPr/>
        </p:nvSpPr>
        <p:spPr>
          <a:xfrm>
            <a:off x="13629829" y="4067175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1" name="Text 100">
            <a:extLst>
              <a:ext uri="{FF2B5EF4-FFF2-40B4-BE49-F238E27FC236}">
                <a16:creationId xmlns:a16="http://schemas.microsoft.com/office/drawing/2014/main" id="{DF95FDF6-426B-37DD-ABBA-D3A8E4DC1367}"/>
              </a:ext>
            </a:extLst>
          </p:cNvPr>
          <p:cNvSpPr/>
          <p:nvPr/>
        </p:nvSpPr>
        <p:spPr>
          <a:xfrm>
            <a:off x="13591729" y="40671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142" name="Shape 101">
            <a:extLst>
              <a:ext uri="{FF2B5EF4-FFF2-40B4-BE49-F238E27FC236}">
                <a16:creationId xmlns:a16="http://schemas.microsoft.com/office/drawing/2014/main" id="{E2A7D05E-42B1-A1D3-DA61-802F914E1FB2}"/>
              </a:ext>
            </a:extLst>
          </p:cNvPr>
          <p:cNvSpPr/>
          <p:nvPr/>
        </p:nvSpPr>
        <p:spPr>
          <a:xfrm>
            <a:off x="14992052" y="443865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3" name="Shape 102">
            <a:extLst>
              <a:ext uri="{FF2B5EF4-FFF2-40B4-BE49-F238E27FC236}">
                <a16:creationId xmlns:a16="http://schemas.microsoft.com/office/drawing/2014/main" id="{79020525-64C9-E13D-77E1-31072B277F12}"/>
              </a:ext>
            </a:extLst>
          </p:cNvPr>
          <p:cNvSpPr/>
          <p:nvPr/>
        </p:nvSpPr>
        <p:spPr>
          <a:xfrm>
            <a:off x="16082665" y="4067175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4" name="Text 103">
            <a:extLst>
              <a:ext uri="{FF2B5EF4-FFF2-40B4-BE49-F238E27FC236}">
                <a16:creationId xmlns:a16="http://schemas.microsoft.com/office/drawing/2014/main" id="{243F6F5A-60C9-54FC-EC23-E4B16558367B}"/>
              </a:ext>
            </a:extLst>
          </p:cNvPr>
          <p:cNvSpPr/>
          <p:nvPr/>
        </p:nvSpPr>
        <p:spPr>
          <a:xfrm>
            <a:off x="16044565" y="40671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145" name="Shape 104">
            <a:extLst>
              <a:ext uri="{FF2B5EF4-FFF2-40B4-BE49-F238E27FC236}">
                <a16:creationId xmlns:a16="http://schemas.microsoft.com/office/drawing/2014/main" id="{629042D6-CF28-3567-0FF1-3B8EB6BC97BE}"/>
              </a:ext>
            </a:extLst>
          </p:cNvPr>
          <p:cNvSpPr/>
          <p:nvPr/>
        </p:nvSpPr>
        <p:spPr>
          <a:xfrm>
            <a:off x="847725" y="4448175"/>
            <a:ext cx="3944094" cy="485775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6" name="Shape 105">
            <a:extLst>
              <a:ext uri="{FF2B5EF4-FFF2-40B4-BE49-F238E27FC236}">
                <a16:creationId xmlns:a16="http://schemas.microsoft.com/office/drawing/2014/main" id="{1265D218-AA14-902F-BB1D-E7303790169B}"/>
              </a:ext>
            </a:extLst>
          </p:cNvPr>
          <p:cNvSpPr/>
          <p:nvPr/>
        </p:nvSpPr>
        <p:spPr>
          <a:xfrm>
            <a:off x="847725" y="4924425"/>
            <a:ext cx="394409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7" name="Shape 106">
            <a:extLst>
              <a:ext uri="{FF2B5EF4-FFF2-40B4-BE49-F238E27FC236}">
                <a16:creationId xmlns:a16="http://schemas.microsoft.com/office/drawing/2014/main" id="{46766242-1838-AAD2-3C85-A80AE88188E5}"/>
              </a:ext>
            </a:extLst>
          </p:cNvPr>
          <p:cNvSpPr/>
          <p:nvPr/>
        </p:nvSpPr>
        <p:spPr>
          <a:xfrm>
            <a:off x="4782294" y="444817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8" name="Text 107">
            <a:extLst>
              <a:ext uri="{FF2B5EF4-FFF2-40B4-BE49-F238E27FC236}">
                <a16:creationId xmlns:a16="http://schemas.microsoft.com/office/drawing/2014/main" id="{CDF3CEB9-D9EA-CCFC-501E-F8C708A4C82F}"/>
              </a:ext>
            </a:extLst>
          </p:cNvPr>
          <p:cNvSpPr/>
          <p:nvPr/>
        </p:nvSpPr>
        <p:spPr>
          <a:xfrm>
            <a:off x="1000125" y="4552950"/>
            <a:ext cx="37480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2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temps réel agrégé</a:t>
            </a:r>
            <a:endParaRPr lang="en-US" sz="1125" dirty="0"/>
          </a:p>
        </p:txBody>
      </p:sp>
      <p:sp>
        <p:nvSpPr>
          <p:cNvPr id="149" name="Shape 108">
            <a:extLst>
              <a:ext uri="{FF2B5EF4-FFF2-40B4-BE49-F238E27FC236}">
                <a16:creationId xmlns:a16="http://schemas.microsoft.com/office/drawing/2014/main" id="{4E8BFE1C-E0CA-0192-4ED1-9369B9395B34}"/>
              </a:ext>
            </a:extLst>
          </p:cNvPr>
          <p:cNvSpPr/>
          <p:nvPr/>
        </p:nvSpPr>
        <p:spPr>
          <a:xfrm>
            <a:off x="4791819" y="4448175"/>
            <a:ext cx="2856012" cy="485775"/>
          </a:xfrm>
          <a:prstGeom prst="rect">
            <a:avLst/>
          </a:prstGeom>
          <a:solidFill>
            <a:srgbClr val="3979C1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0" name="Shape 109">
            <a:extLst>
              <a:ext uri="{FF2B5EF4-FFF2-40B4-BE49-F238E27FC236}">
                <a16:creationId xmlns:a16="http://schemas.microsoft.com/office/drawing/2014/main" id="{1723192B-9E04-750D-67B3-B3F8ACC07773}"/>
              </a:ext>
            </a:extLst>
          </p:cNvPr>
          <p:cNvSpPr/>
          <p:nvPr/>
        </p:nvSpPr>
        <p:spPr>
          <a:xfrm>
            <a:off x="4791819" y="4924425"/>
            <a:ext cx="2856012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1" name="Shape 110">
            <a:extLst>
              <a:ext uri="{FF2B5EF4-FFF2-40B4-BE49-F238E27FC236}">
                <a16:creationId xmlns:a16="http://schemas.microsoft.com/office/drawing/2014/main" id="{5E773329-E4BF-C99D-49AD-3987BC440A09}"/>
              </a:ext>
            </a:extLst>
          </p:cNvPr>
          <p:cNvSpPr/>
          <p:nvPr/>
        </p:nvSpPr>
        <p:spPr>
          <a:xfrm>
            <a:off x="7638306" y="444817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2" name="Shape 111">
            <a:extLst>
              <a:ext uri="{FF2B5EF4-FFF2-40B4-BE49-F238E27FC236}">
                <a16:creationId xmlns:a16="http://schemas.microsoft.com/office/drawing/2014/main" id="{CDA44F83-D64A-C6FB-2001-411E338CC3CA}"/>
              </a:ext>
            </a:extLst>
          </p:cNvPr>
          <p:cNvSpPr/>
          <p:nvPr/>
        </p:nvSpPr>
        <p:spPr>
          <a:xfrm>
            <a:off x="6081713" y="4552950"/>
            <a:ext cx="266700" cy="266700"/>
          </a:xfrm>
          <a:prstGeom prst="ellipse">
            <a:avLst/>
          </a:prstGeom>
          <a:solidFill>
            <a:srgbClr val="2287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3" name="Text 112">
            <a:extLst>
              <a:ext uri="{FF2B5EF4-FFF2-40B4-BE49-F238E27FC236}">
                <a16:creationId xmlns:a16="http://schemas.microsoft.com/office/drawing/2014/main" id="{03EA8D2D-51F3-D6AF-11AF-CBE05C317213}"/>
              </a:ext>
            </a:extLst>
          </p:cNvPr>
          <p:cNvSpPr/>
          <p:nvPr/>
        </p:nvSpPr>
        <p:spPr>
          <a:xfrm>
            <a:off x="6043613" y="45529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54" name="Shape 113">
            <a:extLst>
              <a:ext uri="{FF2B5EF4-FFF2-40B4-BE49-F238E27FC236}">
                <a16:creationId xmlns:a16="http://schemas.microsoft.com/office/drawing/2014/main" id="{3FD08F9C-3BDD-A399-EA93-A1D7F9043F03}"/>
              </a:ext>
            </a:extLst>
          </p:cNvPr>
          <p:cNvSpPr/>
          <p:nvPr/>
        </p:nvSpPr>
        <p:spPr>
          <a:xfrm>
            <a:off x="7647831" y="492442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5" name="Shape 114">
            <a:extLst>
              <a:ext uri="{FF2B5EF4-FFF2-40B4-BE49-F238E27FC236}">
                <a16:creationId xmlns:a16="http://schemas.microsoft.com/office/drawing/2014/main" id="{D697D0F4-4035-9D9C-3119-06F9CA041350}"/>
              </a:ext>
            </a:extLst>
          </p:cNvPr>
          <p:cNvSpPr/>
          <p:nvPr/>
        </p:nvSpPr>
        <p:spPr>
          <a:xfrm>
            <a:off x="10086380" y="444817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6" name="Shape 115">
            <a:extLst>
              <a:ext uri="{FF2B5EF4-FFF2-40B4-BE49-F238E27FC236}">
                <a16:creationId xmlns:a16="http://schemas.microsoft.com/office/drawing/2014/main" id="{F6BB1226-B028-5A94-05E9-29FEB8D1837C}"/>
              </a:ext>
            </a:extLst>
          </p:cNvPr>
          <p:cNvSpPr/>
          <p:nvPr/>
        </p:nvSpPr>
        <p:spPr>
          <a:xfrm>
            <a:off x="8733681" y="4552950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7" name="Text 116">
            <a:extLst>
              <a:ext uri="{FF2B5EF4-FFF2-40B4-BE49-F238E27FC236}">
                <a16:creationId xmlns:a16="http://schemas.microsoft.com/office/drawing/2014/main" id="{112BA2AF-59D1-A197-32D1-99B2935A751D}"/>
              </a:ext>
            </a:extLst>
          </p:cNvPr>
          <p:cNvSpPr/>
          <p:nvPr/>
        </p:nvSpPr>
        <p:spPr>
          <a:xfrm>
            <a:off x="8695581" y="45529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158" name="Shape 117">
            <a:extLst>
              <a:ext uri="{FF2B5EF4-FFF2-40B4-BE49-F238E27FC236}">
                <a16:creationId xmlns:a16="http://schemas.microsoft.com/office/drawing/2014/main" id="{3CDB4278-1B0B-CE47-4B97-1C177733F9B5}"/>
              </a:ext>
            </a:extLst>
          </p:cNvPr>
          <p:cNvSpPr/>
          <p:nvPr/>
        </p:nvSpPr>
        <p:spPr>
          <a:xfrm>
            <a:off x="10095905" y="492442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9" name="Shape 118">
            <a:extLst>
              <a:ext uri="{FF2B5EF4-FFF2-40B4-BE49-F238E27FC236}">
                <a16:creationId xmlns:a16="http://schemas.microsoft.com/office/drawing/2014/main" id="{85D3E72B-82C7-0CDF-6280-179AE6F55295}"/>
              </a:ext>
            </a:extLst>
          </p:cNvPr>
          <p:cNvSpPr/>
          <p:nvPr/>
        </p:nvSpPr>
        <p:spPr>
          <a:xfrm>
            <a:off x="12534454" y="444817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0" name="Shape 119">
            <a:extLst>
              <a:ext uri="{FF2B5EF4-FFF2-40B4-BE49-F238E27FC236}">
                <a16:creationId xmlns:a16="http://schemas.microsoft.com/office/drawing/2014/main" id="{AA048608-9918-8A4C-35DC-DF4D4712D713}"/>
              </a:ext>
            </a:extLst>
          </p:cNvPr>
          <p:cNvSpPr/>
          <p:nvPr/>
        </p:nvSpPr>
        <p:spPr>
          <a:xfrm>
            <a:off x="11181755" y="4552950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1" name="Text 120">
            <a:extLst>
              <a:ext uri="{FF2B5EF4-FFF2-40B4-BE49-F238E27FC236}">
                <a16:creationId xmlns:a16="http://schemas.microsoft.com/office/drawing/2014/main" id="{51DC0124-7B96-78DC-8C82-CE6C66AE4549}"/>
              </a:ext>
            </a:extLst>
          </p:cNvPr>
          <p:cNvSpPr/>
          <p:nvPr/>
        </p:nvSpPr>
        <p:spPr>
          <a:xfrm>
            <a:off x="11143655" y="45529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162" name="Shape 121">
            <a:extLst>
              <a:ext uri="{FF2B5EF4-FFF2-40B4-BE49-F238E27FC236}">
                <a16:creationId xmlns:a16="http://schemas.microsoft.com/office/drawing/2014/main" id="{08FD4466-8569-88E9-FFDD-629BD361773C}"/>
              </a:ext>
            </a:extLst>
          </p:cNvPr>
          <p:cNvSpPr/>
          <p:nvPr/>
        </p:nvSpPr>
        <p:spPr>
          <a:xfrm>
            <a:off x="12543979" y="492442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3" name="Shape 122">
            <a:extLst>
              <a:ext uri="{FF2B5EF4-FFF2-40B4-BE49-F238E27FC236}">
                <a16:creationId xmlns:a16="http://schemas.microsoft.com/office/drawing/2014/main" id="{DC63E44F-1DD3-6FBB-8ADC-B19A0DD2C379}"/>
              </a:ext>
            </a:extLst>
          </p:cNvPr>
          <p:cNvSpPr/>
          <p:nvPr/>
        </p:nvSpPr>
        <p:spPr>
          <a:xfrm>
            <a:off x="14982527" y="444817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4" name="Shape 123">
            <a:extLst>
              <a:ext uri="{FF2B5EF4-FFF2-40B4-BE49-F238E27FC236}">
                <a16:creationId xmlns:a16="http://schemas.microsoft.com/office/drawing/2014/main" id="{2033D726-37A6-5FF9-BD9D-536871AC03CF}"/>
              </a:ext>
            </a:extLst>
          </p:cNvPr>
          <p:cNvSpPr/>
          <p:nvPr/>
        </p:nvSpPr>
        <p:spPr>
          <a:xfrm>
            <a:off x="13629829" y="4552950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5" name="Text 124">
            <a:extLst>
              <a:ext uri="{FF2B5EF4-FFF2-40B4-BE49-F238E27FC236}">
                <a16:creationId xmlns:a16="http://schemas.microsoft.com/office/drawing/2014/main" id="{09DFF168-52D6-137C-76D3-A9E06750729A}"/>
              </a:ext>
            </a:extLst>
          </p:cNvPr>
          <p:cNvSpPr/>
          <p:nvPr/>
        </p:nvSpPr>
        <p:spPr>
          <a:xfrm>
            <a:off x="13591729" y="45529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166" name="Shape 125">
            <a:extLst>
              <a:ext uri="{FF2B5EF4-FFF2-40B4-BE49-F238E27FC236}">
                <a16:creationId xmlns:a16="http://schemas.microsoft.com/office/drawing/2014/main" id="{32102010-E66F-2089-0CD4-F07FEA101E15}"/>
              </a:ext>
            </a:extLst>
          </p:cNvPr>
          <p:cNvSpPr/>
          <p:nvPr/>
        </p:nvSpPr>
        <p:spPr>
          <a:xfrm>
            <a:off x="14992052" y="492442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7" name="Shape 126">
            <a:extLst>
              <a:ext uri="{FF2B5EF4-FFF2-40B4-BE49-F238E27FC236}">
                <a16:creationId xmlns:a16="http://schemas.microsoft.com/office/drawing/2014/main" id="{7233FAE8-26D2-4E8C-559C-EF5BE3B8420F}"/>
              </a:ext>
            </a:extLst>
          </p:cNvPr>
          <p:cNvSpPr/>
          <p:nvPr/>
        </p:nvSpPr>
        <p:spPr>
          <a:xfrm>
            <a:off x="16082665" y="4552950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8" name="Text 127">
            <a:extLst>
              <a:ext uri="{FF2B5EF4-FFF2-40B4-BE49-F238E27FC236}">
                <a16:creationId xmlns:a16="http://schemas.microsoft.com/office/drawing/2014/main" id="{C8905A82-6A80-5E55-EE69-DE5CC97E3DF8}"/>
              </a:ext>
            </a:extLst>
          </p:cNvPr>
          <p:cNvSpPr/>
          <p:nvPr/>
        </p:nvSpPr>
        <p:spPr>
          <a:xfrm>
            <a:off x="16044565" y="45529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169" name="Shape 128">
            <a:extLst>
              <a:ext uri="{FF2B5EF4-FFF2-40B4-BE49-F238E27FC236}">
                <a16:creationId xmlns:a16="http://schemas.microsoft.com/office/drawing/2014/main" id="{3F4492E9-1703-3253-E8CF-F6BEFBDF0DB2}"/>
              </a:ext>
            </a:extLst>
          </p:cNvPr>
          <p:cNvSpPr/>
          <p:nvPr/>
        </p:nvSpPr>
        <p:spPr>
          <a:xfrm>
            <a:off x="847725" y="4933950"/>
            <a:ext cx="3944094" cy="485775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0" name="Shape 129">
            <a:extLst>
              <a:ext uri="{FF2B5EF4-FFF2-40B4-BE49-F238E27FC236}">
                <a16:creationId xmlns:a16="http://schemas.microsoft.com/office/drawing/2014/main" id="{DD65258B-B5E7-D3DB-9438-FF1D883B89C3}"/>
              </a:ext>
            </a:extLst>
          </p:cNvPr>
          <p:cNvSpPr/>
          <p:nvPr/>
        </p:nvSpPr>
        <p:spPr>
          <a:xfrm>
            <a:off x="847725" y="5410200"/>
            <a:ext cx="394409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1" name="Shape 130">
            <a:extLst>
              <a:ext uri="{FF2B5EF4-FFF2-40B4-BE49-F238E27FC236}">
                <a16:creationId xmlns:a16="http://schemas.microsoft.com/office/drawing/2014/main" id="{D8234011-5321-5229-F6CA-E181F046E7D3}"/>
              </a:ext>
            </a:extLst>
          </p:cNvPr>
          <p:cNvSpPr/>
          <p:nvPr/>
        </p:nvSpPr>
        <p:spPr>
          <a:xfrm>
            <a:off x="4782294" y="493395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2" name="Text 131">
            <a:extLst>
              <a:ext uri="{FF2B5EF4-FFF2-40B4-BE49-F238E27FC236}">
                <a16:creationId xmlns:a16="http://schemas.microsoft.com/office/drawing/2014/main" id="{8044E5F4-06F1-98A0-4E40-2C59AA7ED92E}"/>
              </a:ext>
            </a:extLst>
          </p:cNvPr>
          <p:cNvSpPr/>
          <p:nvPr/>
        </p:nvSpPr>
        <p:spPr>
          <a:xfrm>
            <a:off x="1000125" y="5038725"/>
            <a:ext cx="37480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2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Contrats LLD / LOA multi-loueurs</a:t>
            </a:r>
            <a:endParaRPr lang="en-US" sz="1125" dirty="0"/>
          </a:p>
        </p:txBody>
      </p:sp>
      <p:sp>
        <p:nvSpPr>
          <p:cNvPr id="173" name="Shape 132">
            <a:extLst>
              <a:ext uri="{FF2B5EF4-FFF2-40B4-BE49-F238E27FC236}">
                <a16:creationId xmlns:a16="http://schemas.microsoft.com/office/drawing/2014/main" id="{54B1A95D-80BD-795D-8039-CA78DA5FD700}"/>
              </a:ext>
            </a:extLst>
          </p:cNvPr>
          <p:cNvSpPr/>
          <p:nvPr/>
        </p:nvSpPr>
        <p:spPr>
          <a:xfrm>
            <a:off x="4791819" y="4933950"/>
            <a:ext cx="2856012" cy="485775"/>
          </a:xfrm>
          <a:prstGeom prst="rect">
            <a:avLst/>
          </a:prstGeom>
          <a:solidFill>
            <a:srgbClr val="3979C1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4" name="Shape 133">
            <a:extLst>
              <a:ext uri="{FF2B5EF4-FFF2-40B4-BE49-F238E27FC236}">
                <a16:creationId xmlns:a16="http://schemas.microsoft.com/office/drawing/2014/main" id="{B677286E-B1E9-0DC5-273C-B5DDC1A2A1B8}"/>
              </a:ext>
            </a:extLst>
          </p:cNvPr>
          <p:cNvSpPr/>
          <p:nvPr/>
        </p:nvSpPr>
        <p:spPr>
          <a:xfrm>
            <a:off x="4791819" y="5410200"/>
            <a:ext cx="2856012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5" name="Shape 134">
            <a:extLst>
              <a:ext uri="{FF2B5EF4-FFF2-40B4-BE49-F238E27FC236}">
                <a16:creationId xmlns:a16="http://schemas.microsoft.com/office/drawing/2014/main" id="{34D41567-56B5-4CE6-A534-805797B27A44}"/>
              </a:ext>
            </a:extLst>
          </p:cNvPr>
          <p:cNvSpPr/>
          <p:nvPr/>
        </p:nvSpPr>
        <p:spPr>
          <a:xfrm>
            <a:off x="7638306" y="493395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6" name="Shape 135">
            <a:extLst>
              <a:ext uri="{FF2B5EF4-FFF2-40B4-BE49-F238E27FC236}">
                <a16:creationId xmlns:a16="http://schemas.microsoft.com/office/drawing/2014/main" id="{24AEC0FD-F4A5-AF9B-AF30-AA5C8CD98B5F}"/>
              </a:ext>
            </a:extLst>
          </p:cNvPr>
          <p:cNvSpPr/>
          <p:nvPr/>
        </p:nvSpPr>
        <p:spPr>
          <a:xfrm>
            <a:off x="6081713" y="5038725"/>
            <a:ext cx="266700" cy="266700"/>
          </a:xfrm>
          <a:prstGeom prst="ellipse">
            <a:avLst/>
          </a:prstGeom>
          <a:solidFill>
            <a:srgbClr val="2287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7" name="Text 136">
            <a:extLst>
              <a:ext uri="{FF2B5EF4-FFF2-40B4-BE49-F238E27FC236}">
                <a16:creationId xmlns:a16="http://schemas.microsoft.com/office/drawing/2014/main" id="{5755ECFF-3318-FE2E-046C-3005E4020EAA}"/>
              </a:ext>
            </a:extLst>
          </p:cNvPr>
          <p:cNvSpPr/>
          <p:nvPr/>
        </p:nvSpPr>
        <p:spPr>
          <a:xfrm>
            <a:off x="6043613" y="50387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8" name="Shape 137">
            <a:extLst>
              <a:ext uri="{FF2B5EF4-FFF2-40B4-BE49-F238E27FC236}">
                <a16:creationId xmlns:a16="http://schemas.microsoft.com/office/drawing/2014/main" id="{7A8C79D9-044C-028B-9D4C-8D506DA26A10}"/>
              </a:ext>
            </a:extLst>
          </p:cNvPr>
          <p:cNvSpPr/>
          <p:nvPr/>
        </p:nvSpPr>
        <p:spPr>
          <a:xfrm>
            <a:off x="7647831" y="541020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9" name="Shape 138">
            <a:extLst>
              <a:ext uri="{FF2B5EF4-FFF2-40B4-BE49-F238E27FC236}">
                <a16:creationId xmlns:a16="http://schemas.microsoft.com/office/drawing/2014/main" id="{19A2B836-F533-CECD-03C8-7A2755012F23}"/>
              </a:ext>
            </a:extLst>
          </p:cNvPr>
          <p:cNvSpPr/>
          <p:nvPr/>
        </p:nvSpPr>
        <p:spPr>
          <a:xfrm>
            <a:off x="10086380" y="493395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0" name="Shape 139">
            <a:extLst>
              <a:ext uri="{FF2B5EF4-FFF2-40B4-BE49-F238E27FC236}">
                <a16:creationId xmlns:a16="http://schemas.microsoft.com/office/drawing/2014/main" id="{66ABA6A9-73DB-7186-3A23-84F20E432FD3}"/>
              </a:ext>
            </a:extLst>
          </p:cNvPr>
          <p:cNvSpPr/>
          <p:nvPr/>
        </p:nvSpPr>
        <p:spPr>
          <a:xfrm>
            <a:off x="8733681" y="5038725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1" name="Text 140">
            <a:extLst>
              <a:ext uri="{FF2B5EF4-FFF2-40B4-BE49-F238E27FC236}">
                <a16:creationId xmlns:a16="http://schemas.microsoft.com/office/drawing/2014/main" id="{14481F1E-F825-90CB-AC11-1C8ED4BF6AE8}"/>
              </a:ext>
            </a:extLst>
          </p:cNvPr>
          <p:cNvSpPr/>
          <p:nvPr/>
        </p:nvSpPr>
        <p:spPr>
          <a:xfrm>
            <a:off x="8695581" y="50387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182" name="Shape 141">
            <a:extLst>
              <a:ext uri="{FF2B5EF4-FFF2-40B4-BE49-F238E27FC236}">
                <a16:creationId xmlns:a16="http://schemas.microsoft.com/office/drawing/2014/main" id="{30F8E607-5574-E11E-E7E7-E3489207F573}"/>
              </a:ext>
            </a:extLst>
          </p:cNvPr>
          <p:cNvSpPr/>
          <p:nvPr/>
        </p:nvSpPr>
        <p:spPr>
          <a:xfrm>
            <a:off x="10095905" y="541020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3" name="Shape 142">
            <a:extLst>
              <a:ext uri="{FF2B5EF4-FFF2-40B4-BE49-F238E27FC236}">
                <a16:creationId xmlns:a16="http://schemas.microsoft.com/office/drawing/2014/main" id="{29EFED36-22EB-A90B-212C-58405FAD9A1C}"/>
              </a:ext>
            </a:extLst>
          </p:cNvPr>
          <p:cNvSpPr/>
          <p:nvPr/>
        </p:nvSpPr>
        <p:spPr>
          <a:xfrm>
            <a:off x="12534454" y="493395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4" name="Shape 143">
            <a:extLst>
              <a:ext uri="{FF2B5EF4-FFF2-40B4-BE49-F238E27FC236}">
                <a16:creationId xmlns:a16="http://schemas.microsoft.com/office/drawing/2014/main" id="{F3EC354B-6D8C-454F-778E-3373EF2971D2}"/>
              </a:ext>
            </a:extLst>
          </p:cNvPr>
          <p:cNvSpPr/>
          <p:nvPr/>
        </p:nvSpPr>
        <p:spPr>
          <a:xfrm>
            <a:off x="11181755" y="5038725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5" name="Text 144">
            <a:extLst>
              <a:ext uri="{FF2B5EF4-FFF2-40B4-BE49-F238E27FC236}">
                <a16:creationId xmlns:a16="http://schemas.microsoft.com/office/drawing/2014/main" id="{B343139D-FDB9-788D-F3F7-BA4AB5D0D346}"/>
              </a:ext>
            </a:extLst>
          </p:cNvPr>
          <p:cNvSpPr/>
          <p:nvPr/>
        </p:nvSpPr>
        <p:spPr>
          <a:xfrm>
            <a:off x="11143655" y="50387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186" name="Shape 145">
            <a:extLst>
              <a:ext uri="{FF2B5EF4-FFF2-40B4-BE49-F238E27FC236}">
                <a16:creationId xmlns:a16="http://schemas.microsoft.com/office/drawing/2014/main" id="{86E86C6F-0C5B-228B-0CC1-1900203E0307}"/>
              </a:ext>
            </a:extLst>
          </p:cNvPr>
          <p:cNvSpPr/>
          <p:nvPr/>
        </p:nvSpPr>
        <p:spPr>
          <a:xfrm>
            <a:off x="12543979" y="541020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7" name="Shape 146">
            <a:extLst>
              <a:ext uri="{FF2B5EF4-FFF2-40B4-BE49-F238E27FC236}">
                <a16:creationId xmlns:a16="http://schemas.microsoft.com/office/drawing/2014/main" id="{62C6BC50-1014-D28B-695C-36025F53ED8A}"/>
              </a:ext>
            </a:extLst>
          </p:cNvPr>
          <p:cNvSpPr/>
          <p:nvPr/>
        </p:nvSpPr>
        <p:spPr>
          <a:xfrm>
            <a:off x="14982527" y="493395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8" name="Shape 147">
            <a:extLst>
              <a:ext uri="{FF2B5EF4-FFF2-40B4-BE49-F238E27FC236}">
                <a16:creationId xmlns:a16="http://schemas.microsoft.com/office/drawing/2014/main" id="{44B73645-DB4E-5B5B-F297-B5991913571D}"/>
              </a:ext>
            </a:extLst>
          </p:cNvPr>
          <p:cNvSpPr/>
          <p:nvPr/>
        </p:nvSpPr>
        <p:spPr>
          <a:xfrm>
            <a:off x="13629829" y="5038725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9" name="Text 148">
            <a:extLst>
              <a:ext uri="{FF2B5EF4-FFF2-40B4-BE49-F238E27FC236}">
                <a16:creationId xmlns:a16="http://schemas.microsoft.com/office/drawing/2014/main" id="{3FAD878D-A226-0D02-FA65-4184AEB15EC1}"/>
              </a:ext>
            </a:extLst>
          </p:cNvPr>
          <p:cNvSpPr/>
          <p:nvPr/>
        </p:nvSpPr>
        <p:spPr>
          <a:xfrm>
            <a:off x="13591729" y="50387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190" name="Shape 149">
            <a:extLst>
              <a:ext uri="{FF2B5EF4-FFF2-40B4-BE49-F238E27FC236}">
                <a16:creationId xmlns:a16="http://schemas.microsoft.com/office/drawing/2014/main" id="{7B4C438A-E59E-72F5-0C45-0C7C96193BB1}"/>
              </a:ext>
            </a:extLst>
          </p:cNvPr>
          <p:cNvSpPr/>
          <p:nvPr/>
        </p:nvSpPr>
        <p:spPr>
          <a:xfrm>
            <a:off x="14992052" y="541020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1" name="Shape 150">
            <a:extLst>
              <a:ext uri="{FF2B5EF4-FFF2-40B4-BE49-F238E27FC236}">
                <a16:creationId xmlns:a16="http://schemas.microsoft.com/office/drawing/2014/main" id="{1DF200D2-02C1-5F9E-2D02-D29BEF4A72FC}"/>
              </a:ext>
            </a:extLst>
          </p:cNvPr>
          <p:cNvSpPr/>
          <p:nvPr/>
        </p:nvSpPr>
        <p:spPr>
          <a:xfrm>
            <a:off x="16082665" y="5038725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2" name="Text 151">
            <a:extLst>
              <a:ext uri="{FF2B5EF4-FFF2-40B4-BE49-F238E27FC236}">
                <a16:creationId xmlns:a16="http://schemas.microsoft.com/office/drawing/2014/main" id="{8241F528-0CA1-6B46-54BA-B41384624DEF}"/>
              </a:ext>
            </a:extLst>
          </p:cNvPr>
          <p:cNvSpPr/>
          <p:nvPr/>
        </p:nvSpPr>
        <p:spPr>
          <a:xfrm>
            <a:off x="16044565" y="50387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193" name="Shape 152">
            <a:extLst>
              <a:ext uri="{FF2B5EF4-FFF2-40B4-BE49-F238E27FC236}">
                <a16:creationId xmlns:a16="http://schemas.microsoft.com/office/drawing/2014/main" id="{F6A5FE64-6253-875D-AE13-64525F2BAB35}"/>
              </a:ext>
            </a:extLst>
          </p:cNvPr>
          <p:cNvSpPr/>
          <p:nvPr/>
        </p:nvSpPr>
        <p:spPr>
          <a:xfrm>
            <a:off x="847725" y="5419725"/>
            <a:ext cx="3944094" cy="485775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4" name="Shape 153">
            <a:extLst>
              <a:ext uri="{FF2B5EF4-FFF2-40B4-BE49-F238E27FC236}">
                <a16:creationId xmlns:a16="http://schemas.microsoft.com/office/drawing/2014/main" id="{97FDB07B-99BB-E812-DD23-1A241DA86AE2}"/>
              </a:ext>
            </a:extLst>
          </p:cNvPr>
          <p:cNvSpPr/>
          <p:nvPr/>
        </p:nvSpPr>
        <p:spPr>
          <a:xfrm>
            <a:off x="847725" y="5895975"/>
            <a:ext cx="394409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5" name="Shape 154">
            <a:extLst>
              <a:ext uri="{FF2B5EF4-FFF2-40B4-BE49-F238E27FC236}">
                <a16:creationId xmlns:a16="http://schemas.microsoft.com/office/drawing/2014/main" id="{FB3E764E-B248-9143-5175-50EB22CBBD5E}"/>
              </a:ext>
            </a:extLst>
          </p:cNvPr>
          <p:cNvSpPr/>
          <p:nvPr/>
        </p:nvSpPr>
        <p:spPr>
          <a:xfrm>
            <a:off x="4782294" y="541972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6" name="Text 155">
            <a:extLst>
              <a:ext uri="{FF2B5EF4-FFF2-40B4-BE49-F238E27FC236}">
                <a16:creationId xmlns:a16="http://schemas.microsoft.com/office/drawing/2014/main" id="{964D5EE2-749E-90D6-FE54-03920A6A57D6}"/>
              </a:ext>
            </a:extLst>
          </p:cNvPr>
          <p:cNvSpPr/>
          <p:nvPr/>
        </p:nvSpPr>
        <p:spPr>
          <a:xfrm>
            <a:off x="1000125" y="5524500"/>
            <a:ext cx="37480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2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 carburant intégrées</a:t>
            </a:r>
            <a:endParaRPr lang="en-US" sz="1125" dirty="0"/>
          </a:p>
        </p:txBody>
      </p:sp>
      <p:sp>
        <p:nvSpPr>
          <p:cNvPr id="197" name="Shape 156">
            <a:extLst>
              <a:ext uri="{FF2B5EF4-FFF2-40B4-BE49-F238E27FC236}">
                <a16:creationId xmlns:a16="http://schemas.microsoft.com/office/drawing/2014/main" id="{EEBCDA6C-268F-38A2-08C9-9808845672F0}"/>
              </a:ext>
            </a:extLst>
          </p:cNvPr>
          <p:cNvSpPr/>
          <p:nvPr/>
        </p:nvSpPr>
        <p:spPr>
          <a:xfrm>
            <a:off x="4791819" y="5419725"/>
            <a:ext cx="2856012" cy="485775"/>
          </a:xfrm>
          <a:prstGeom prst="rect">
            <a:avLst/>
          </a:prstGeom>
          <a:solidFill>
            <a:srgbClr val="3979C1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8" name="Shape 157">
            <a:extLst>
              <a:ext uri="{FF2B5EF4-FFF2-40B4-BE49-F238E27FC236}">
                <a16:creationId xmlns:a16="http://schemas.microsoft.com/office/drawing/2014/main" id="{24873CD7-53CC-8991-B61D-B7D9342CFE99}"/>
              </a:ext>
            </a:extLst>
          </p:cNvPr>
          <p:cNvSpPr/>
          <p:nvPr/>
        </p:nvSpPr>
        <p:spPr>
          <a:xfrm>
            <a:off x="4791819" y="5895975"/>
            <a:ext cx="2856012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9" name="Shape 158">
            <a:extLst>
              <a:ext uri="{FF2B5EF4-FFF2-40B4-BE49-F238E27FC236}">
                <a16:creationId xmlns:a16="http://schemas.microsoft.com/office/drawing/2014/main" id="{A27DD31E-DA42-F075-70BD-0DE752B9B98D}"/>
              </a:ext>
            </a:extLst>
          </p:cNvPr>
          <p:cNvSpPr/>
          <p:nvPr/>
        </p:nvSpPr>
        <p:spPr>
          <a:xfrm>
            <a:off x="7638306" y="541972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0" name="Shape 159">
            <a:extLst>
              <a:ext uri="{FF2B5EF4-FFF2-40B4-BE49-F238E27FC236}">
                <a16:creationId xmlns:a16="http://schemas.microsoft.com/office/drawing/2014/main" id="{1904F961-99F9-BD2A-C35B-CFE47374ABE0}"/>
              </a:ext>
            </a:extLst>
          </p:cNvPr>
          <p:cNvSpPr/>
          <p:nvPr/>
        </p:nvSpPr>
        <p:spPr>
          <a:xfrm>
            <a:off x="6081713" y="5524500"/>
            <a:ext cx="266700" cy="266700"/>
          </a:xfrm>
          <a:prstGeom prst="ellipse">
            <a:avLst/>
          </a:prstGeom>
          <a:solidFill>
            <a:srgbClr val="2287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1" name="Text 160">
            <a:extLst>
              <a:ext uri="{FF2B5EF4-FFF2-40B4-BE49-F238E27FC236}">
                <a16:creationId xmlns:a16="http://schemas.microsoft.com/office/drawing/2014/main" id="{96803CB9-07C3-B5F5-83FD-CAA1DCFBD613}"/>
              </a:ext>
            </a:extLst>
          </p:cNvPr>
          <p:cNvSpPr/>
          <p:nvPr/>
        </p:nvSpPr>
        <p:spPr>
          <a:xfrm>
            <a:off x="6043613" y="55245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2" name="Shape 161">
            <a:extLst>
              <a:ext uri="{FF2B5EF4-FFF2-40B4-BE49-F238E27FC236}">
                <a16:creationId xmlns:a16="http://schemas.microsoft.com/office/drawing/2014/main" id="{D0A7BDFA-09AF-6547-8E24-3B5030A279BD}"/>
              </a:ext>
            </a:extLst>
          </p:cNvPr>
          <p:cNvSpPr/>
          <p:nvPr/>
        </p:nvSpPr>
        <p:spPr>
          <a:xfrm>
            <a:off x="7647831" y="589597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3" name="Shape 162">
            <a:extLst>
              <a:ext uri="{FF2B5EF4-FFF2-40B4-BE49-F238E27FC236}">
                <a16:creationId xmlns:a16="http://schemas.microsoft.com/office/drawing/2014/main" id="{8917B45B-C799-82D4-3F8E-1271F4150AAB}"/>
              </a:ext>
            </a:extLst>
          </p:cNvPr>
          <p:cNvSpPr/>
          <p:nvPr/>
        </p:nvSpPr>
        <p:spPr>
          <a:xfrm>
            <a:off x="10086380" y="541972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4" name="Shape 163">
            <a:extLst>
              <a:ext uri="{FF2B5EF4-FFF2-40B4-BE49-F238E27FC236}">
                <a16:creationId xmlns:a16="http://schemas.microsoft.com/office/drawing/2014/main" id="{7D86418B-AD59-325F-B1CB-0B33FD423F90}"/>
              </a:ext>
            </a:extLst>
          </p:cNvPr>
          <p:cNvSpPr/>
          <p:nvPr/>
        </p:nvSpPr>
        <p:spPr>
          <a:xfrm>
            <a:off x="8733681" y="5524500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5" name="Text 164">
            <a:extLst>
              <a:ext uri="{FF2B5EF4-FFF2-40B4-BE49-F238E27FC236}">
                <a16:creationId xmlns:a16="http://schemas.microsoft.com/office/drawing/2014/main" id="{75D18B46-0B6D-B091-AE12-3D922F5A82CD}"/>
              </a:ext>
            </a:extLst>
          </p:cNvPr>
          <p:cNvSpPr/>
          <p:nvPr/>
        </p:nvSpPr>
        <p:spPr>
          <a:xfrm>
            <a:off x="8695581" y="55245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206" name="Shape 165">
            <a:extLst>
              <a:ext uri="{FF2B5EF4-FFF2-40B4-BE49-F238E27FC236}">
                <a16:creationId xmlns:a16="http://schemas.microsoft.com/office/drawing/2014/main" id="{531A4A65-29B3-25E1-CF57-9E4DAC51D164}"/>
              </a:ext>
            </a:extLst>
          </p:cNvPr>
          <p:cNvSpPr/>
          <p:nvPr/>
        </p:nvSpPr>
        <p:spPr>
          <a:xfrm>
            <a:off x="10095905" y="589597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7" name="Shape 166">
            <a:extLst>
              <a:ext uri="{FF2B5EF4-FFF2-40B4-BE49-F238E27FC236}">
                <a16:creationId xmlns:a16="http://schemas.microsoft.com/office/drawing/2014/main" id="{14E40A01-953F-ABAE-A8CF-B9FF4317EAB7}"/>
              </a:ext>
            </a:extLst>
          </p:cNvPr>
          <p:cNvSpPr/>
          <p:nvPr/>
        </p:nvSpPr>
        <p:spPr>
          <a:xfrm>
            <a:off x="12534454" y="541972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8" name="Shape 167">
            <a:extLst>
              <a:ext uri="{FF2B5EF4-FFF2-40B4-BE49-F238E27FC236}">
                <a16:creationId xmlns:a16="http://schemas.microsoft.com/office/drawing/2014/main" id="{8728BB53-3292-28F4-367F-6A94C9AC4EC9}"/>
              </a:ext>
            </a:extLst>
          </p:cNvPr>
          <p:cNvSpPr/>
          <p:nvPr/>
        </p:nvSpPr>
        <p:spPr>
          <a:xfrm>
            <a:off x="11181755" y="5524500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9" name="Text 168">
            <a:extLst>
              <a:ext uri="{FF2B5EF4-FFF2-40B4-BE49-F238E27FC236}">
                <a16:creationId xmlns:a16="http://schemas.microsoft.com/office/drawing/2014/main" id="{DAB5FCE0-37D2-789A-BBDD-5EE8A1BD9229}"/>
              </a:ext>
            </a:extLst>
          </p:cNvPr>
          <p:cNvSpPr/>
          <p:nvPr/>
        </p:nvSpPr>
        <p:spPr>
          <a:xfrm>
            <a:off x="11143655" y="55245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210" name="Shape 169">
            <a:extLst>
              <a:ext uri="{FF2B5EF4-FFF2-40B4-BE49-F238E27FC236}">
                <a16:creationId xmlns:a16="http://schemas.microsoft.com/office/drawing/2014/main" id="{52F91D9E-13C6-B37B-B67B-62EE48720C2E}"/>
              </a:ext>
            </a:extLst>
          </p:cNvPr>
          <p:cNvSpPr/>
          <p:nvPr/>
        </p:nvSpPr>
        <p:spPr>
          <a:xfrm>
            <a:off x="12543979" y="589597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1" name="Shape 170">
            <a:extLst>
              <a:ext uri="{FF2B5EF4-FFF2-40B4-BE49-F238E27FC236}">
                <a16:creationId xmlns:a16="http://schemas.microsoft.com/office/drawing/2014/main" id="{3F041B1F-C368-C4CC-5029-34C1BF958B50}"/>
              </a:ext>
            </a:extLst>
          </p:cNvPr>
          <p:cNvSpPr/>
          <p:nvPr/>
        </p:nvSpPr>
        <p:spPr>
          <a:xfrm>
            <a:off x="14982527" y="541972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2" name="Shape 171">
            <a:extLst>
              <a:ext uri="{FF2B5EF4-FFF2-40B4-BE49-F238E27FC236}">
                <a16:creationId xmlns:a16="http://schemas.microsoft.com/office/drawing/2014/main" id="{F6C582DD-DE6D-CE4A-8F95-58316B109D44}"/>
              </a:ext>
            </a:extLst>
          </p:cNvPr>
          <p:cNvSpPr/>
          <p:nvPr/>
        </p:nvSpPr>
        <p:spPr>
          <a:xfrm>
            <a:off x="13629829" y="5524500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3" name="Text 172">
            <a:extLst>
              <a:ext uri="{FF2B5EF4-FFF2-40B4-BE49-F238E27FC236}">
                <a16:creationId xmlns:a16="http://schemas.microsoft.com/office/drawing/2014/main" id="{0FE649B5-D14D-F5F5-D3B8-192089FD9117}"/>
              </a:ext>
            </a:extLst>
          </p:cNvPr>
          <p:cNvSpPr/>
          <p:nvPr/>
        </p:nvSpPr>
        <p:spPr>
          <a:xfrm>
            <a:off x="13591729" y="55245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214" name="Shape 173">
            <a:extLst>
              <a:ext uri="{FF2B5EF4-FFF2-40B4-BE49-F238E27FC236}">
                <a16:creationId xmlns:a16="http://schemas.microsoft.com/office/drawing/2014/main" id="{629712D7-8AC1-9D2C-A4D1-35AF9D7B4EB9}"/>
              </a:ext>
            </a:extLst>
          </p:cNvPr>
          <p:cNvSpPr/>
          <p:nvPr/>
        </p:nvSpPr>
        <p:spPr>
          <a:xfrm>
            <a:off x="14992052" y="589597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5" name="Shape 174">
            <a:extLst>
              <a:ext uri="{FF2B5EF4-FFF2-40B4-BE49-F238E27FC236}">
                <a16:creationId xmlns:a16="http://schemas.microsoft.com/office/drawing/2014/main" id="{B7DF288F-FA59-DEF6-B8D3-10392CB74456}"/>
              </a:ext>
            </a:extLst>
          </p:cNvPr>
          <p:cNvSpPr/>
          <p:nvPr/>
        </p:nvSpPr>
        <p:spPr>
          <a:xfrm>
            <a:off x="16082665" y="5524500"/>
            <a:ext cx="266700" cy="266700"/>
          </a:xfrm>
          <a:prstGeom prst="ellipse">
            <a:avLst/>
          </a:prstGeom>
          <a:solidFill>
            <a:srgbClr val="2287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6" name="Text 175">
            <a:extLst>
              <a:ext uri="{FF2B5EF4-FFF2-40B4-BE49-F238E27FC236}">
                <a16:creationId xmlns:a16="http://schemas.microsoft.com/office/drawing/2014/main" id="{1F30AA76-DDAC-EE0B-D67B-91D7998333DE}"/>
              </a:ext>
            </a:extLst>
          </p:cNvPr>
          <p:cNvSpPr/>
          <p:nvPr/>
        </p:nvSpPr>
        <p:spPr>
          <a:xfrm>
            <a:off x="16044565" y="55245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17" name="Shape 176">
            <a:extLst>
              <a:ext uri="{FF2B5EF4-FFF2-40B4-BE49-F238E27FC236}">
                <a16:creationId xmlns:a16="http://schemas.microsoft.com/office/drawing/2014/main" id="{080F40A4-3AA9-4A2C-7182-050E9ED3D33C}"/>
              </a:ext>
            </a:extLst>
          </p:cNvPr>
          <p:cNvSpPr/>
          <p:nvPr/>
        </p:nvSpPr>
        <p:spPr>
          <a:xfrm>
            <a:off x="847725" y="5905500"/>
            <a:ext cx="3944094" cy="485775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8" name="Shape 177">
            <a:extLst>
              <a:ext uri="{FF2B5EF4-FFF2-40B4-BE49-F238E27FC236}">
                <a16:creationId xmlns:a16="http://schemas.microsoft.com/office/drawing/2014/main" id="{DF247F0C-9375-8986-2C20-0F7B6A6F6885}"/>
              </a:ext>
            </a:extLst>
          </p:cNvPr>
          <p:cNvSpPr/>
          <p:nvPr/>
        </p:nvSpPr>
        <p:spPr>
          <a:xfrm>
            <a:off x="847725" y="6381750"/>
            <a:ext cx="394409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9" name="Shape 178">
            <a:extLst>
              <a:ext uri="{FF2B5EF4-FFF2-40B4-BE49-F238E27FC236}">
                <a16:creationId xmlns:a16="http://schemas.microsoft.com/office/drawing/2014/main" id="{F5460101-AE71-3816-383C-B155AF724702}"/>
              </a:ext>
            </a:extLst>
          </p:cNvPr>
          <p:cNvSpPr/>
          <p:nvPr/>
        </p:nvSpPr>
        <p:spPr>
          <a:xfrm>
            <a:off x="4782294" y="590550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0" name="Text 179">
            <a:extLst>
              <a:ext uri="{FF2B5EF4-FFF2-40B4-BE49-F238E27FC236}">
                <a16:creationId xmlns:a16="http://schemas.microsoft.com/office/drawing/2014/main" id="{CA465C17-3CF8-CA53-5DCA-371C728F6029}"/>
              </a:ext>
            </a:extLst>
          </p:cNvPr>
          <p:cNvSpPr/>
          <p:nvPr/>
        </p:nvSpPr>
        <p:spPr>
          <a:xfrm>
            <a:off x="1000125" y="6010275"/>
            <a:ext cx="37480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2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 recharge VE &amp; éligibilité électrique</a:t>
            </a:r>
            <a:endParaRPr lang="en-US" sz="1125" dirty="0"/>
          </a:p>
        </p:txBody>
      </p:sp>
      <p:sp>
        <p:nvSpPr>
          <p:cNvPr id="221" name="Shape 180">
            <a:extLst>
              <a:ext uri="{FF2B5EF4-FFF2-40B4-BE49-F238E27FC236}">
                <a16:creationId xmlns:a16="http://schemas.microsoft.com/office/drawing/2014/main" id="{9A1ABE76-B62C-740E-9086-711FD5565D8C}"/>
              </a:ext>
            </a:extLst>
          </p:cNvPr>
          <p:cNvSpPr/>
          <p:nvPr/>
        </p:nvSpPr>
        <p:spPr>
          <a:xfrm>
            <a:off x="4791819" y="5905500"/>
            <a:ext cx="2856012" cy="485775"/>
          </a:xfrm>
          <a:prstGeom prst="rect">
            <a:avLst/>
          </a:prstGeom>
          <a:solidFill>
            <a:srgbClr val="3979C1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2" name="Shape 181">
            <a:extLst>
              <a:ext uri="{FF2B5EF4-FFF2-40B4-BE49-F238E27FC236}">
                <a16:creationId xmlns:a16="http://schemas.microsoft.com/office/drawing/2014/main" id="{6E6DABB9-0318-BB14-6B76-21F2B55D6955}"/>
              </a:ext>
            </a:extLst>
          </p:cNvPr>
          <p:cNvSpPr/>
          <p:nvPr/>
        </p:nvSpPr>
        <p:spPr>
          <a:xfrm>
            <a:off x="4791819" y="6381750"/>
            <a:ext cx="2856012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3" name="Shape 182">
            <a:extLst>
              <a:ext uri="{FF2B5EF4-FFF2-40B4-BE49-F238E27FC236}">
                <a16:creationId xmlns:a16="http://schemas.microsoft.com/office/drawing/2014/main" id="{8773DD94-AFFF-8EF3-ECA3-16A2174E2574}"/>
              </a:ext>
            </a:extLst>
          </p:cNvPr>
          <p:cNvSpPr/>
          <p:nvPr/>
        </p:nvSpPr>
        <p:spPr>
          <a:xfrm>
            <a:off x="7638306" y="590550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4" name="Shape 183">
            <a:extLst>
              <a:ext uri="{FF2B5EF4-FFF2-40B4-BE49-F238E27FC236}">
                <a16:creationId xmlns:a16="http://schemas.microsoft.com/office/drawing/2014/main" id="{F2F32188-1888-0EC3-5A62-634D062605E5}"/>
              </a:ext>
            </a:extLst>
          </p:cNvPr>
          <p:cNvSpPr/>
          <p:nvPr/>
        </p:nvSpPr>
        <p:spPr>
          <a:xfrm>
            <a:off x="6081713" y="6010275"/>
            <a:ext cx="266700" cy="266700"/>
          </a:xfrm>
          <a:prstGeom prst="ellipse">
            <a:avLst/>
          </a:prstGeom>
          <a:solidFill>
            <a:srgbClr val="2287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5" name="Text 184">
            <a:extLst>
              <a:ext uri="{FF2B5EF4-FFF2-40B4-BE49-F238E27FC236}">
                <a16:creationId xmlns:a16="http://schemas.microsoft.com/office/drawing/2014/main" id="{FB549602-75BC-494A-8FF0-A0001EBC21E9}"/>
              </a:ext>
            </a:extLst>
          </p:cNvPr>
          <p:cNvSpPr/>
          <p:nvPr/>
        </p:nvSpPr>
        <p:spPr>
          <a:xfrm>
            <a:off x="6043613" y="60102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26" name="Shape 185">
            <a:extLst>
              <a:ext uri="{FF2B5EF4-FFF2-40B4-BE49-F238E27FC236}">
                <a16:creationId xmlns:a16="http://schemas.microsoft.com/office/drawing/2014/main" id="{4EEFAFB1-0AA3-1056-541D-2BD8C27C0863}"/>
              </a:ext>
            </a:extLst>
          </p:cNvPr>
          <p:cNvSpPr/>
          <p:nvPr/>
        </p:nvSpPr>
        <p:spPr>
          <a:xfrm>
            <a:off x="7647831" y="638175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7" name="Shape 186">
            <a:extLst>
              <a:ext uri="{FF2B5EF4-FFF2-40B4-BE49-F238E27FC236}">
                <a16:creationId xmlns:a16="http://schemas.microsoft.com/office/drawing/2014/main" id="{16F8463B-F298-3B39-4224-A0583ABACF7E}"/>
              </a:ext>
            </a:extLst>
          </p:cNvPr>
          <p:cNvSpPr/>
          <p:nvPr/>
        </p:nvSpPr>
        <p:spPr>
          <a:xfrm>
            <a:off x="10086380" y="590550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8" name="Shape 187">
            <a:extLst>
              <a:ext uri="{FF2B5EF4-FFF2-40B4-BE49-F238E27FC236}">
                <a16:creationId xmlns:a16="http://schemas.microsoft.com/office/drawing/2014/main" id="{04E50DFC-CE5E-7A90-C55B-A5F565281BFA}"/>
              </a:ext>
            </a:extLst>
          </p:cNvPr>
          <p:cNvSpPr/>
          <p:nvPr/>
        </p:nvSpPr>
        <p:spPr>
          <a:xfrm>
            <a:off x="8733681" y="6010275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9" name="Text 188">
            <a:extLst>
              <a:ext uri="{FF2B5EF4-FFF2-40B4-BE49-F238E27FC236}">
                <a16:creationId xmlns:a16="http://schemas.microsoft.com/office/drawing/2014/main" id="{43E4B07A-FE83-BB4C-DDCC-EBE0ADD571F0}"/>
              </a:ext>
            </a:extLst>
          </p:cNvPr>
          <p:cNvSpPr/>
          <p:nvPr/>
        </p:nvSpPr>
        <p:spPr>
          <a:xfrm>
            <a:off x="8695581" y="60102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230" name="Shape 189">
            <a:extLst>
              <a:ext uri="{FF2B5EF4-FFF2-40B4-BE49-F238E27FC236}">
                <a16:creationId xmlns:a16="http://schemas.microsoft.com/office/drawing/2014/main" id="{DDF50D00-94F4-AE82-353C-B7767572891C}"/>
              </a:ext>
            </a:extLst>
          </p:cNvPr>
          <p:cNvSpPr/>
          <p:nvPr/>
        </p:nvSpPr>
        <p:spPr>
          <a:xfrm>
            <a:off x="10095905" y="638175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1" name="Shape 190">
            <a:extLst>
              <a:ext uri="{FF2B5EF4-FFF2-40B4-BE49-F238E27FC236}">
                <a16:creationId xmlns:a16="http://schemas.microsoft.com/office/drawing/2014/main" id="{A1598C63-CAAC-2585-1C12-4E5CE907FBB2}"/>
              </a:ext>
            </a:extLst>
          </p:cNvPr>
          <p:cNvSpPr/>
          <p:nvPr/>
        </p:nvSpPr>
        <p:spPr>
          <a:xfrm>
            <a:off x="12534454" y="590550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2" name="Shape 191">
            <a:extLst>
              <a:ext uri="{FF2B5EF4-FFF2-40B4-BE49-F238E27FC236}">
                <a16:creationId xmlns:a16="http://schemas.microsoft.com/office/drawing/2014/main" id="{A18F029C-E4AA-2213-665D-F021D859DDEB}"/>
              </a:ext>
            </a:extLst>
          </p:cNvPr>
          <p:cNvSpPr/>
          <p:nvPr/>
        </p:nvSpPr>
        <p:spPr>
          <a:xfrm>
            <a:off x="11181755" y="6010275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3" name="Text 192">
            <a:extLst>
              <a:ext uri="{FF2B5EF4-FFF2-40B4-BE49-F238E27FC236}">
                <a16:creationId xmlns:a16="http://schemas.microsoft.com/office/drawing/2014/main" id="{2C402A7E-F1E4-A989-513A-F8204886CF67}"/>
              </a:ext>
            </a:extLst>
          </p:cNvPr>
          <p:cNvSpPr/>
          <p:nvPr/>
        </p:nvSpPr>
        <p:spPr>
          <a:xfrm>
            <a:off x="11143655" y="60102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234" name="Shape 193">
            <a:extLst>
              <a:ext uri="{FF2B5EF4-FFF2-40B4-BE49-F238E27FC236}">
                <a16:creationId xmlns:a16="http://schemas.microsoft.com/office/drawing/2014/main" id="{A5574325-7727-AABB-C7D6-120526D8EE9C}"/>
              </a:ext>
            </a:extLst>
          </p:cNvPr>
          <p:cNvSpPr/>
          <p:nvPr/>
        </p:nvSpPr>
        <p:spPr>
          <a:xfrm>
            <a:off x="12543979" y="638175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5" name="Shape 194">
            <a:extLst>
              <a:ext uri="{FF2B5EF4-FFF2-40B4-BE49-F238E27FC236}">
                <a16:creationId xmlns:a16="http://schemas.microsoft.com/office/drawing/2014/main" id="{8D3DFC8D-4847-BF35-4778-5AA418858650}"/>
              </a:ext>
            </a:extLst>
          </p:cNvPr>
          <p:cNvSpPr/>
          <p:nvPr/>
        </p:nvSpPr>
        <p:spPr>
          <a:xfrm>
            <a:off x="14982527" y="590550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6" name="Shape 195">
            <a:extLst>
              <a:ext uri="{FF2B5EF4-FFF2-40B4-BE49-F238E27FC236}">
                <a16:creationId xmlns:a16="http://schemas.microsoft.com/office/drawing/2014/main" id="{9BF3612B-FFC1-6299-49FC-040C3ED14964}"/>
              </a:ext>
            </a:extLst>
          </p:cNvPr>
          <p:cNvSpPr/>
          <p:nvPr/>
        </p:nvSpPr>
        <p:spPr>
          <a:xfrm>
            <a:off x="13629829" y="6010275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7" name="Text 196">
            <a:extLst>
              <a:ext uri="{FF2B5EF4-FFF2-40B4-BE49-F238E27FC236}">
                <a16:creationId xmlns:a16="http://schemas.microsoft.com/office/drawing/2014/main" id="{E070575C-418C-5E26-B302-9595C2F16C50}"/>
              </a:ext>
            </a:extLst>
          </p:cNvPr>
          <p:cNvSpPr/>
          <p:nvPr/>
        </p:nvSpPr>
        <p:spPr>
          <a:xfrm>
            <a:off x="13591729" y="60102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238" name="Shape 197">
            <a:extLst>
              <a:ext uri="{FF2B5EF4-FFF2-40B4-BE49-F238E27FC236}">
                <a16:creationId xmlns:a16="http://schemas.microsoft.com/office/drawing/2014/main" id="{ED33DD38-36CC-6E95-AE5F-F00E61B35EE4}"/>
              </a:ext>
            </a:extLst>
          </p:cNvPr>
          <p:cNvSpPr/>
          <p:nvPr/>
        </p:nvSpPr>
        <p:spPr>
          <a:xfrm>
            <a:off x="14992052" y="638175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9" name="Shape 198">
            <a:extLst>
              <a:ext uri="{FF2B5EF4-FFF2-40B4-BE49-F238E27FC236}">
                <a16:creationId xmlns:a16="http://schemas.microsoft.com/office/drawing/2014/main" id="{5629D627-C61E-4406-7A5D-99266168C5A3}"/>
              </a:ext>
            </a:extLst>
          </p:cNvPr>
          <p:cNvSpPr/>
          <p:nvPr/>
        </p:nvSpPr>
        <p:spPr>
          <a:xfrm>
            <a:off x="16082665" y="6010275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0" name="Text 199">
            <a:extLst>
              <a:ext uri="{FF2B5EF4-FFF2-40B4-BE49-F238E27FC236}">
                <a16:creationId xmlns:a16="http://schemas.microsoft.com/office/drawing/2014/main" id="{12B65E59-6247-5BC2-2BD8-135593A8AE5A}"/>
              </a:ext>
            </a:extLst>
          </p:cNvPr>
          <p:cNvSpPr/>
          <p:nvPr/>
        </p:nvSpPr>
        <p:spPr>
          <a:xfrm>
            <a:off x="16044565" y="60102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241" name="Shape 200">
            <a:extLst>
              <a:ext uri="{FF2B5EF4-FFF2-40B4-BE49-F238E27FC236}">
                <a16:creationId xmlns:a16="http://schemas.microsoft.com/office/drawing/2014/main" id="{36A8F033-5E53-8466-6D16-4B7332FF5901}"/>
              </a:ext>
            </a:extLst>
          </p:cNvPr>
          <p:cNvSpPr/>
          <p:nvPr/>
        </p:nvSpPr>
        <p:spPr>
          <a:xfrm>
            <a:off x="847725" y="6391275"/>
            <a:ext cx="3944094" cy="485775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2" name="Shape 201">
            <a:extLst>
              <a:ext uri="{FF2B5EF4-FFF2-40B4-BE49-F238E27FC236}">
                <a16:creationId xmlns:a16="http://schemas.microsoft.com/office/drawing/2014/main" id="{0AF7AF58-BB24-2674-7D60-284CAE79F797}"/>
              </a:ext>
            </a:extLst>
          </p:cNvPr>
          <p:cNvSpPr/>
          <p:nvPr/>
        </p:nvSpPr>
        <p:spPr>
          <a:xfrm>
            <a:off x="847725" y="6867525"/>
            <a:ext cx="394409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3" name="Shape 202">
            <a:extLst>
              <a:ext uri="{FF2B5EF4-FFF2-40B4-BE49-F238E27FC236}">
                <a16:creationId xmlns:a16="http://schemas.microsoft.com/office/drawing/2014/main" id="{E097DB2B-3B8C-F13D-201E-C7F3835DD649}"/>
              </a:ext>
            </a:extLst>
          </p:cNvPr>
          <p:cNvSpPr/>
          <p:nvPr/>
        </p:nvSpPr>
        <p:spPr>
          <a:xfrm>
            <a:off x="4782294" y="639127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4" name="Text 203">
            <a:extLst>
              <a:ext uri="{FF2B5EF4-FFF2-40B4-BE49-F238E27FC236}">
                <a16:creationId xmlns:a16="http://schemas.microsoft.com/office/drawing/2014/main" id="{E1D80F97-0205-C5C2-A62D-B2955F6BFD53}"/>
              </a:ext>
            </a:extLst>
          </p:cNvPr>
          <p:cNvSpPr/>
          <p:nvPr/>
        </p:nvSpPr>
        <p:spPr>
          <a:xfrm>
            <a:off x="1000125" y="6496050"/>
            <a:ext cx="37480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2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Engins, PL, machines industrielles</a:t>
            </a:r>
            <a:endParaRPr lang="en-US" sz="1125" dirty="0"/>
          </a:p>
        </p:txBody>
      </p:sp>
      <p:sp>
        <p:nvSpPr>
          <p:cNvPr id="245" name="Shape 204">
            <a:extLst>
              <a:ext uri="{FF2B5EF4-FFF2-40B4-BE49-F238E27FC236}">
                <a16:creationId xmlns:a16="http://schemas.microsoft.com/office/drawing/2014/main" id="{9DCCAB4E-E771-37CC-1C07-7CC24FCB8C1D}"/>
              </a:ext>
            </a:extLst>
          </p:cNvPr>
          <p:cNvSpPr/>
          <p:nvPr/>
        </p:nvSpPr>
        <p:spPr>
          <a:xfrm>
            <a:off x="4791819" y="6391275"/>
            <a:ext cx="2856012" cy="485775"/>
          </a:xfrm>
          <a:prstGeom prst="rect">
            <a:avLst/>
          </a:prstGeom>
          <a:solidFill>
            <a:srgbClr val="3979C1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6" name="Shape 205">
            <a:extLst>
              <a:ext uri="{FF2B5EF4-FFF2-40B4-BE49-F238E27FC236}">
                <a16:creationId xmlns:a16="http://schemas.microsoft.com/office/drawing/2014/main" id="{055FAE70-17EB-177D-A34B-57395EEDF168}"/>
              </a:ext>
            </a:extLst>
          </p:cNvPr>
          <p:cNvSpPr/>
          <p:nvPr/>
        </p:nvSpPr>
        <p:spPr>
          <a:xfrm>
            <a:off x="4791819" y="6867525"/>
            <a:ext cx="2856012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7" name="Shape 206">
            <a:extLst>
              <a:ext uri="{FF2B5EF4-FFF2-40B4-BE49-F238E27FC236}">
                <a16:creationId xmlns:a16="http://schemas.microsoft.com/office/drawing/2014/main" id="{7DF4C4D8-DFF8-7835-44F9-FFF7724D0D91}"/>
              </a:ext>
            </a:extLst>
          </p:cNvPr>
          <p:cNvSpPr/>
          <p:nvPr/>
        </p:nvSpPr>
        <p:spPr>
          <a:xfrm>
            <a:off x="7638306" y="639127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8" name="Shape 207">
            <a:extLst>
              <a:ext uri="{FF2B5EF4-FFF2-40B4-BE49-F238E27FC236}">
                <a16:creationId xmlns:a16="http://schemas.microsoft.com/office/drawing/2014/main" id="{25EC08F3-C35C-9D3B-E746-D7E0754C5138}"/>
              </a:ext>
            </a:extLst>
          </p:cNvPr>
          <p:cNvSpPr/>
          <p:nvPr/>
        </p:nvSpPr>
        <p:spPr>
          <a:xfrm>
            <a:off x="6081713" y="6496050"/>
            <a:ext cx="266700" cy="266700"/>
          </a:xfrm>
          <a:prstGeom prst="ellipse">
            <a:avLst/>
          </a:prstGeom>
          <a:solidFill>
            <a:srgbClr val="2287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9" name="Text 208">
            <a:extLst>
              <a:ext uri="{FF2B5EF4-FFF2-40B4-BE49-F238E27FC236}">
                <a16:creationId xmlns:a16="http://schemas.microsoft.com/office/drawing/2014/main" id="{F5A269C0-3A9F-08EA-B4F3-E6CEAF7B17E2}"/>
              </a:ext>
            </a:extLst>
          </p:cNvPr>
          <p:cNvSpPr/>
          <p:nvPr/>
        </p:nvSpPr>
        <p:spPr>
          <a:xfrm>
            <a:off x="6043613" y="64960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50" name="Shape 209">
            <a:extLst>
              <a:ext uri="{FF2B5EF4-FFF2-40B4-BE49-F238E27FC236}">
                <a16:creationId xmlns:a16="http://schemas.microsoft.com/office/drawing/2014/main" id="{F2A77731-4B10-7006-A1AA-A51B57E79191}"/>
              </a:ext>
            </a:extLst>
          </p:cNvPr>
          <p:cNvSpPr/>
          <p:nvPr/>
        </p:nvSpPr>
        <p:spPr>
          <a:xfrm>
            <a:off x="7647831" y="686752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1" name="Shape 210">
            <a:extLst>
              <a:ext uri="{FF2B5EF4-FFF2-40B4-BE49-F238E27FC236}">
                <a16:creationId xmlns:a16="http://schemas.microsoft.com/office/drawing/2014/main" id="{E7E5414A-3733-90F5-7DB2-AEE8A0719647}"/>
              </a:ext>
            </a:extLst>
          </p:cNvPr>
          <p:cNvSpPr/>
          <p:nvPr/>
        </p:nvSpPr>
        <p:spPr>
          <a:xfrm>
            <a:off x="10086380" y="639127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2" name="Shape 211">
            <a:extLst>
              <a:ext uri="{FF2B5EF4-FFF2-40B4-BE49-F238E27FC236}">
                <a16:creationId xmlns:a16="http://schemas.microsoft.com/office/drawing/2014/main" id="{FFD4F71E-6243-194C-C041-1EF41BC2285E}"/>
              </a:ext>
            </a:extLst>
          </p:cNvPr>
          <p:cNvSpPr/>
          <p:nvPr/>
        </p:nvSpPr>
        <p:spPr>
          <a:xfrm>
            <a:off x="8733681" y="6496050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3" name="Text 212">
            <a:extLst>
              <a:ext uri="{FF2B5EF4-FFF2-40B4-BE49-F238E27FC236}">
                <a16:creationId xmlns:a16="http://schemas.microsoft.com/office/drawing/2014/main" id="{4DEE7780-96A7-5C1D-9442-169302194EE3}"/>
              </a:ext>
            </a:extLst>
          </p:cNvPr>
          <p:cNvSpPr/>
          <p:nvPr/>
        </p:nvSpPr>
        <p:spPr>
          <a:xfrm>
            <a:off x="8695581" y="64960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254" name="Shape 213">
            <a:extLst>
              <a:ext uri="{FF2B5EF4-FFF2-40B4-BE49-F238E27FC236}">
                <a16:creationId xmlns:a16="http://schemas.microsoft.com/office/drawing/2014/main" id="{1F9B2161-3558-91BD-DC86-4C0648540651}"/>
              </a:ext>
            </a:extLst>
          </p:cNvPr>
          <p:cNvSpPr/>
          <p:nvPr/>
        </p:nvSpPr>
        <p:spPr>
          <a:xfrm>
            <a:off x="10095905" y="686752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5" name="Shape 214">
            <a:extLst>
              <a:ext uri="{FF2B5EF4-FFF2-40B4-BE49-F238E27FC236}">
                <a16:creationId xmlns:a16="http://schemas.microsoft.com/office/drawing/2014/main" id="{A72ABAC6-2ECD-789C-2932-186C7667CC4E}"/>
              </a:ext>
            </a:extLst>
          </p:cNvPr>
          <p:cNvSpPr/>
          <p:nvPr/>
        </p:nvSpPr>
        <p:spPr>
          <a:xfrm>
            <a:off x="12534454" y="639127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6" name="Shape 215">
            <a:extLst>
              <a:ext uri="{FF2B5EF4-FFF2-40B4-BE49-F238E27FC236}">
                <a16:creationId xmlns:a16="http://schemas.microsoft.com/office/drawing/2014/main" id="{BA9D582B-41B6-5ABE-EBA2-522E8EEDF580}"/>
              </a:ext>
            </a:extLst>
          </p:cNvPr>
          <p:cNvSpPr/>
          <p:nvPr/>
        </p:nvSpPr>
        <p:spPr>
          <a:xfrm>
            <a:off x="11181755" y="6496050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7" name="Text 216">
            <a:extLst>
              <a:ext uri="{FF2B5EF4-FFF2-40B4-BE49-F238E27FC236}">
                <a16:creationId xmlns:a16="http://schemas.microsoft.com/office/drawing/2014/main" id="{C0669DF1-55D5-8F0E-59DE-C1BBAF532E7C}"/>
              </a:ext>
            </a:extLst>
          </p:cNvPr>
          <p:cNvSpPr/>
          <p:nvPr/>
        </p:nvSpPr>
        <p:spPr>
          <a:xfrm>
            <a:off x="11143655" y="64960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258" name="Shape 217">
            <a:extLst>
              <a:ext uri="{FF2B5EF4-FFF2-40B4-BE49-F238E27FC236}">
                <a16:creationId xmlns:a16="http://schemas.microsoft.com/office/drawing/2014/main" id="{B3838263-CDF0-E608-9CC4-0B1880363606}"/>
              </a:ext>
            </a:extLst>
          </p:cNvPr>
          <p:cNvSpPr/>
          <p:nvPr/>
        </p:nvSpPr>
        <p:spPr>
          <a:xfrm>
            <a:off x="12543979" y="686752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9" name="Shape 218">
            <a:extLst>
              <a:ext uri="{FF2B5EF4-FFF2-40B4-BE49-F238E27FC236}">
                <a16:creationId xmlns:a16="http://schemas.microsoft.com/office/drawing/2014/main" id="{91B1A451-7A9C-B02D-EF45-FD908826993C}"/>
              </a:ext>
            </a:extLst>
          </p:cNvPr>
          <p:cNvSpPr/>
          <p:nvPr/>
        </p:nvSpPr>
        <p:spPr>
          <a:xfrm>
            <a:off x="14982527" y="6391275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0" name="Shape 219">
            <a:extLst>
              <a:ext uri="{FF2B5EF4-FFF2-40B4-BE49-F238E27FC236}">
                <a16:creationId xmlns:a16="http://schemas.microsoft.com/office/drawing/2014/main" id="{4FEEE41F-3936-5F2E-DCD6-C16C3B9C1B0B}"/>
              </a:ext>
            </a:extLst>
          </p:cNvPr>
          <p:cNvSpPr/>
          <p:nvPr/>
        </p:nvSpPr>
        <p:spPr>
          <a:xfrm>
            <a:off x="13629829" y="6496050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1" name="Text 220">
            <a:extLst>
              <a:ext uri="{FF2B5EF4-FFF2-40B4-BE49-F238E27FC236}">
                <a16:creationId xmlns:a16="http://schemas.microsoft.com/office/drawing/2014/main" id="{10D243F6-6955-756B-F2D7-3319EEEC1E41}"/>
              </a:ext>
            </a:extLst>
          </p:cNvPr>
          <p:cNvSpPr/>
          <p:nvPr/>
        </p:nvSpPr>
        <p:spPr>
          <a:xfrm>
            <a:off x="13591729" y="64960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262" name="Shape 221">
            <a:extLst>
              <a:ext uri="{FF2B5EF4-FFF2-40B4-BE49-F238E27FC236}">
                <a16:creationId xmlns:a16="http://schemas.microsoft.com/office/drawing/2014/main" id="{86A7A2DC-0F34-6080-8E6D-949716A38695}"/>
              </a:ext>
            </a:extLst>
          </p:cNvPr>
          <p:cNvSpPr/>
          <p:nvPr/>
        </p:nvSpPr>
        <p:spPr>
          <a:xfrm>
            <a:off x="14992052" y="6867525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3" name="Shape 222">
            <a:extLst>
              <a:ext uri="{FF2B5EF4-FFF2-40B4-BE49-F238E27FC236}">
                <a16:creationId xmlns:a16="http://schemas.microsoft.com/office/drawing/2014/main" id="{60EA507E-CE97-BE8D-66EE-5A317229B839}"/>
              </a:ext>
            </a:extLst>
          </p:cNvPr>
          <p:cNvSpPr/>
          <p:nvPr/>
        </p:nvSpPr>
        <p:spPr>
          <a:xfrm>
            <a:off x="16082665" y="6496050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4" name="Text 223">
            <a:extLst>
              <a:ext uri="{FF2B5EF4-FFF2-40B4-BE49-F238E27FC236}">
                <a16:creationId xmlns:a16="http://schemas.microsoft.com/office/drawing/2014/main" id="{1C6D31F7-B5C8-D5AD-8B4E-C80E7CDF0F6F}"/>
              </a:ext>
            </a:extLst>
          </p:cNvPr>
          <p:cNvSpPr/>
          <p:nvPr/>
        </p:nvSpPr>
        <p:spPr>
          <a:xfrm>
            <a:off x="16044565" y="64960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265" name="Shape 224">
            <a:extLst>
              <a:ext uri="{FF2B5EF4-FFF2-40B4-BE49-F238E27FC236}">
                <a16:creationId xmlns:a16="http://schemas.microsoft.com/office/drawing/2014/main" id="{9933C330-D79F-0464-EEF3-55394F294BDA}"/>
              </a:ext>
            </a:extLst>
          </p:cNvPr>
          <p:cNvSpPr/>
          <p:nvPr/>
        </p:nvSpPr>
        <p:spPr>
          <a:xfrm>
            <a:off x="847725" y="6877050"/>
            <a:ext cx="3944094" cy="485775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6" name="Shape 225">
            <a:extLst>
              <a:ext uri="{FF2B5EF4-FFF2-40B4-BE49-F238E27FC236}">
                <a16:creationId xmlns:a16="http://schemas.microsoft.com/office/drawing/2014/main" id="{4D9F45CE-70D8-580F-062A-D3B37D1BA1EB}"/>
              </a:ext>
            </a:extLst>
          </p:cNvPr>
          <p:cNvSpPr/>
          <p:nvPr/>
        </p:nvSpPr>
        <p:spPr>
          <a:xfrm>
            <a:off x="847725" y="7353300"/>
            <a:ext cx="394409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7" name="Shape 226">
            <a:extLst>
              <a:ext uri="{FF2B5EF4-FFF2-40B4-BE49-F238E27FC236}">
                <a16:creationId xmlns:a16="http://schemas.microsoft.com/office/drawing/2014/main" id="{8B8E6E5D-967C-6F3C-001D-4BC158FC0421}"/>
              </a:ext>
            </a:extLst>
          </p:cNvPr>
          <p:cNvSpPr/>
          <p:nvPr/>
        </p:nvSpPr>
        <p:spPr>
          <a:xfrm>
            <a:off x="4782294" y="687705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8" name="Text 227">
            <a:extLst>
              <a:ext uri="{FF2B5EF4-FFF2-40B4-BE49-F238E27FC236}">
                <a16:creationId xmlns:a16="http://schemas.microsoft.com/office/drawing/2014/main" id="{369015C8-BB12-0817-50BF-052AC812A739}"/>
              </a:ext>
            </a:extLst>
          </p:cNvPr>
          <p:cNvSpPr/>
          <p:nvPr/>
        </p:nvSpPr>
        <p:spPr>
          <a:xfrm>
            <a:off x="1000125" y="6981825"/>
            <a:ext cx="37480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2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française &amp; RGPD Europe</a:t>
            </a:r>
            <a:endParaRPr lang="en-US" sz="1125" dirty="0"/>
          </a:p>
        </p:txBody>
      </p:sp>
      <p:sp>
        <p:nvSpPr>
          <p:cNvPr id="269" name="Shape 228">
            <a:extLst>
              <a:ext uri="{FF2B5EF4-FFF2-40B4-BE49-F238E27FC236}">
                <a16:creationId xmlns:a16="http://schemas.microsoft.com/office/drawing/2014/main" id="{90AF08E1-0099-0FB7-2A5C-158E7D99B2F0}"/>
              </a:ext>
            </a:extLst>
          </p:cNvPr>
          <p:cNvSpPr/>
          <p:nvPr/>
        </p:nvSpPr>
        <p:spPr>
          <a:xfrm>
            <a:off x="4791819" y="6877050"/>
            <a:ext cx="2856012" cy="485775"/>
          </a:xfrm>
          <a:prstGeom prst="rect">
            <a:avLst/>
          </a:prstGeom>
          <a:solidFill>
            <a:srgbClr val="3979C1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0" name="Shape 229">
            <a:extLst>
              <a:ext uri="{FF2B5EF4-FFF2-40B4-BE49-F238E27FC236}">
                <a16:creationId xmlns:a16="http://schemas.microsoft.com/office/drawing/2014/main" id="{B9046137-A765-F3D1-9ABE-9F5EC1828A9D}"/>
              </a:ext>
            </a:extLst>
          </p:cNvPr>
          <p:cNvSpPr/>
          <p:nvPr/>
        </p:nvSpPr>
        <p:spPr>
          <a:xfrm>
            <a:off x="4791819" y="7353300"/>
            <a:ext cx="2856012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1" name="Shape 230">
            <a:extLst>
              <a:ext uri="{FF2B5EF4-FFF2-40B4-BE49-F238E27FC236}">
                <a16:creationId xmlns:a16="http://schemas.microsoft.com/office/drawing/2014/main" id="{B198B830-F04E-1C48-5D1B-BB42246006D2}"/>
              </a:ext>
            </a:extLst>
          </p:cNvPr>
          <p:cNvSpPr/>
          <p:nvPr/>
        </p:nvSpPr>
        <p:spPr>
          <a:xfrm>
            <a:off x="7638306" y="687705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2" name="Shape 231">
            <a:extLst>
              <a:ext uri="{FF2B5EF4-FFF2-40B4-BE49-F238E27FC236}">
                <a16:creationId xmlns:a16="http://schemas.microsoft.com/office/drawing/2014/main" id="{DF00CC4C-AA2E-2B5C-410A-F9AF08D93C0F}"/>
              </a:ext>
            </a:extLst>
          </p:cNvPr>
          <p:cNvSpPr/>
          <p:nvPr/>
        </p:nvSpPr>
        <p:spPr>
          <a:xfrm>
            <a:off x="6081713" y="6981825"/>
            <a:ext cx="266700" cy="266700"/>
          </a:xfrm>
          <a:prstGeom prst="ellipse">
            <a:avLst/>
          </a:prstGeom>
          <a:solidFill>
            <a:srgbClr val="2287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3" name="Text 232">
            <a:extLst>
              <a:ext uri="{FF2B5EF4-FFF2-40B4-BE49-F238E27FC236}">
                <a16:creationId xmlns:a16="http://schemas.microsoft.com/office/drawing/2014/main" id="{FFCEE320-BEDA-DB11-33C2-48B710AEC058}"/>
              </a:ext>
            </a:extLst>
          </p:cNvPr>
          <p:cNvSpPr/>
          <p:nvPr/>
        </p:nvSpPr>
        <p:spPr>
          <a:xfrm>
            <a:off x="6043613" y="69818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74" name="Shape 233">
            <a:extLst>
              <a:ext uri="{FF2B5EF4-FFF2-40B4-BE49-F238E27FC236}">
                <a16:creationId xmlns:a16="http://schemas.microsoft.com/office/drawing/2014/main" id="{7EE33430-987A-45E2-441A-17C1072C3958}"/>
              </a:ext>
            </a:extLst>
          </p:cNvPr>
          <p:cNvSpPr/>
          <p:nvPr/>
        </p:nvSpPr>
        <p:spPr>
          <a:xfrm>
            <a:off x="7647831" y="735330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5" name="Shape 234">
            <a:extLst>
              <a:ext uri="{FF2B5EF4-FFF2-40B4-BE49-F238E27FC236}">
                <a16:creationId xmlns:a16="http://schemas.microsoft.com/office/drawing/2014/main" id="{2626B23D-BACE-90F7-4D56-F2EAFF0CA426}"/>
              </a:ext>
            </a:extLst>
          </p:cNvPr>
          <p:cNvSpPr/>
          <p:nvPr/>
        </p:nvSpPr>
        <p:spPr>
          <a:xfrm>
            <a:off x="10086380" y="687705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6" name="Shape 235">
            <a:extLst>
              <a:ext uri="{FF2B5EF4-FFF2-40B4-BE49-F238E27FC236}">
                <a16:creationId xmlns:a16="http://schemas.microsoft.com/office/drawing/2014/main" id="{DE650334-D18D-273B-0FEC-765A2E6E78D7}"/>
              </a:ext>
            </a:extLst>
          </p:cNvPr>
          <p:cNvSpPr/>
          <p:nvPr/>
        </p:nvSpPr>
        <p:spPr>
          <a:xfrm>
            <a:off x="8733681" y="6981825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7" name="Text 236">
            <a:extLst>
              <a:ext uri="{FF2B5EF4-FFF2-40B4-BE49-F238E27FC236}">
                <a16:creationId xmlns:a16="http://schemas.microsoft.com/office/drawing/2014/main" id="{F6A0FF64-DD02-0EC8-CAE9-7501531F7582}"/>
              </a:ext>
            </a:extLst>
          </p:cNvPr>
          <p:cNvSpPr/>
          <p:nvPr/>
        </p:nvSpPr>
        <p:spPr>
          <a:xfrm>
            <a:off x="8695581" y="69818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278" name="Shape 237">
            <a:extLst>
              <a:ext uri="{FF2B5EF4-FFF2-40B4-BE49-F238E27FC236}">
                <a16:creationId xmlns:a16="http://schemas.microsoft.com/office/drawing/2014/main" id="{D3CEB687-54B2-5E41-B58F-3EA1D4F9A5CD}"/>
              </a:ext>
            </a:extLst>
          </p:cNvPr>
          <p:cNvSpPr/>
          <p:nvPr/>
        </p:nvSpPr>
        <p:spPr>
          <a:xfrm>
            <a:off x="10095905" y="735330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9" name="Shape 238">
            <a:extLst>
              <a:ext uri="{FF2B5EF4-FFF2-40B4-BE49-F238E27FC236}">
                <a16:creationId xmlns:a16="http://schemas.microsoft.com/office/drawing/2014/main" id="{999B57C5-9C0D-C32F-AE03-F78E24E031C6}"/>
              </a:ext>
            </a:extLst>
          </p:cNvPr>
          <p:cNvSpPr/>
          <p:nvPr/>
        </p:nvSpPr>
        <p:spPr>
          <a:xfrm>
            <a:off x="12534454" y="687705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0" name="Shape 239">
            <a:extLst>
              <a:ext uri="{FF2B5EF4-FFF2-40B4-BE49-F238E27FC236}">
                <a16:creationId xmlns:a16="http://schemas.microsoft.com/office/drawing/2014/main" id="{00B9A276-F8D0-B702-28B7-B0E9B7EB2567}"/>
              </a:ext>
            </a:extLst>
          </p:cNvPr>
          <p:cNvSpPr/>
          <p:nvPr/>
        </p:nvSpPr>
        <p:spPr>
          <a:xfrm>
            <a:off x="11181755" y="6981825"/>
            <a:ext cx="266700" cy="266700"/>
          </a:xfrm>
          <a:prstGeom prst="ellipse">
            <a:avLst/>
          </a:prstGeom>
          <a:solidFill>
            <a:srgbClr val="2287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1" name="Text 240">
            <a:extLst>
              <a:ext uri="{FF2B5EF4-FFF2-40B4-BE49-F238E27FC236}">
                <a16:creationId xmlns:a16="http://schemas.microsoft.com/office/drawing/2014/main" id="{A17BADF0-09C7-6DF4-C6CA-D14AC35E6B93}"/>
              </a:ext>
            </a:extLst>
          </p:cNvPr>
          <p:cNvSpPr/>
          <p:nvPr/>
        </p:nvSpPr>
        <p:spPr>
          <a:xfrm>
            <a:off x="11143655" y="69818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82" name="Shape 241">
            <a:extLst>
              <a:ext uri="{FF2B5EF4-FFF2-40B4-BE49-F238E27FC236}">
                <a16:creationId xmlns:a16="http://schemas.microsoft.com/office/drawing/2014/main" id="{CAE1C9A9-8292-1024-E88E-AF4AA1D8091A}"/>
              </a:ext>
            </a:extLst>
          </p:cNvPr>
          <p:cNvSpPr/>
          <p:nvPr/>
        </p:nvSpPr>
        <p:spPr>
          <a:xfrm>
            <a:off x="12543979" y="735330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3" name="Shape 242">
            <a:extLst>
              <a:ext uri="{FF2B5EF4-FFF2-40B4-BE49-F238E27FC236}">
                <a16:creationId xmlns:a16="http://schemas.microsoft.com/office/drawing/2014/main" id="{5D69A0C1-E7BF-6497-EACD-3954E041B4F5}"/>
              </a:ext>
            </a:extLst>
          </p:cNvPr>
          <p:cNvSpPr/>
          <p:nvPr/>
        </p:nvSpPr>
        <p:spPr>
          <a:xfrm>
            <a:off x="14982527" y="6877050"/>
            <a:ext cx="9525" cy="48577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4" name="Shape 243">
            <a:extLst>
              <a:ext uri="{FF2B5EF4-FFF2-40B4-BE49-F238E27FC236}">
                <a16:creationId xmlns:a16="http://schemas.microsoft.com/office/drawing/2014/main" id="{9EE64BD8-8901-9694-4818-5DC354396E1D}"/>
              </a:ext>
            </a:extLst>
          </p:cNvPr>
          <p:cNvSpPr/>
          <p:nvPr/>
        </p:nvSpPr>
        <p:spPr>
          <a:xfrm>
            <a:off x="13629829" y="6981825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5" name="Text 244">
            <a:extLst>
              <a:ext uri="{FF2B5EF4-FFF2-40B4-BE49-F238E27FC236}">
                <a16:creationId xmlns:a16="http://schemas.microsoft.com/office/drawing/2014/main" id="{6EBF65CA-2B54-DD26-5A93-32FB5B115AF0}"/>
              </a:ext>
            </a:extLst>
          </p:cNvPr>
          <p:cNvSpPr/>
          <p:nvPr/>
        </p:nvSpPr>
        <p:spPr>
          <a:xfrm>
            <a:off x="13591729" y="69818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286" name="Shape 245">
            <a:extLst>
              <a:ext uri="{FF2B5EF4-FFF2-40B4-BE49-F238E27FC236}">
                <a16:creationId xmlns:a16="http://schemas.microsoft.com/office/drawing/2014/main" id="{6AFBA50C-F671-A947-D84D-60EC763288F4}"/>
              </a:ext>
            </a:extLst>
          </p:cNvPr>
          <p:cNvSpPr/>
          <p:nvPr/>
        </p:nvSpPr>
        <p:spPr>
          <a:xfrm>
            <a:off x="14992052" y="7353300"/>
            <a:ext cx="2448074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7" name="Shape 246">
            <a:extLst>
              <a:ext uri="{FF2B5EF4-FFF2-40B4-BE49-F238E27FC236}">
                <a16:creationId xmlns:a16="http://schemas.microsoft.com/office/drawing/2014/main" id="{776DC098-C1EC-796B-D7F0-DD003E7D8F36}"/>
              </a:ext>
            </a:extLst>
          </p:cNvPr>
          <p:cNvSpPr/>
          <p:nvPr/>
        </p:nvSpPr>
        <p:spPr>
          <a:xfrm>
            <a:off x="16082665" y="6981825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8" name="Text 247">
            <a:extLst>
              <a:ext uri="{FF2B5EF4-FFF2-40B4-BE49-F238E27FC236}">
                <a16:creationId xmlns:a16="http://schemas.microsoft.com/office/drawing/2014/main" id="{100C1362-38BD-7B45-5C33-8B5749BDA71F}"/>
              </a:ext>
            </a:extLst>
          </p:cNvPr>
          <p:cNvSpPr/>
          <p:nvPr/>
        </p:nvSpPr>
        <p:spPr>
          <a:xfrm>
            <a:off x="16044565" y="69818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289" name="Shape 248">
            <a:extLst>
              <a:ext uri="{FF2B5EF4-FFF2-40B4-BE49-F238E27FC236}">
                <a16:creationId xmlns:a16="http://schemas.microsoft.com/office/drawing/2014/main" id="{329099D8-5D21-15C0-5BE3-0860A30B8452}"/>
              </a:ext>
            </a:extLst>
          </p:cNvPr>
          <p:cNvSpPr/>
          <p:nvPr/>
        </p:nvSpPr>
        <p:spPr>
          <a:xfrm>
            <a:off x="847725" y="7362825"/>
            <a:ext cx="3944094" cy="47625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0" name="Shape 249">
            <a:extLst>
              <a:ext uri="{FF2B5EF4-FFF2-40B4-BE49-F238E27FC236}">
                <a16:creationId xmlns:a16="http://schemas.microsoft.com/office/drawing/2014/main" id="{14BDEFDC-9D08-00B1-EFC4-40AB1942DB76}"/>
              </a:ext>
            </a:extLst>
          </p:cNvPr>
          <p:cNvSpPr/>
          <p:nvPr/>
        </p:nvSpPr>
        <p:spPr>
          <a:xfrm>
            <a:off x="4782294" y="7362825"/>
            <a:ext cx="9525" cy="476250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1" name="Text 250">
            <a:extLst>
              <a:ext uri="{FF2B5EF4-FFF2-40B4-BE49-F238E27FC236}">
                <a16:creationId xmlns:a16="http://schemas.microsoft.com/office/drawing/2014/main" id="{02629F80-9E89-6E41-9BA0-3B4A276BC0DD}"/>
              </a:ext>
            </a:extLst>
          </p:cNvPr>
          <p:cNvSpPr/>
          <p:nvPr/>
        </p:nvSpPr>
        <p:spPr>
          <a:xfrm>
            <a:off x="1000125" y="7467600"/>
            <a:ext cx="37480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25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unifiée · une seule base de données</a:t>
            </a:r>
            <a:endParaRPr lang="en-US" sz="1125" dirty="0"/>
          </a:p>
        </p:txBody>
      </p:sp>
      <p:sp>
        <p:nvSpPr>
          <p:cNvPr id="292" name="Shape 251">
            <a:extLst>
              <a:ext uri="{FF2B5EF4-FFF2-40B4-BE49-F238E27FC236}">
                <a16:creationId xmlns:a16="http://schemas.microsoft.com/office/drawing/2014/main" id="{71798360-CDE8-5FD1-D281-A71946BCA68B}"/>
              </a:ext>
            </a:extLst>
          </p:cNvPr>
          <p:cNvSpPr/>
          <p:nvPr/>
        </p:nvSpPr>
        <p:spPr>
          <a:xfrm>
            <a:off x="4791819" y="7362825"/>
            <a:ext cx="2856012" cy="476250"/>
          </a:xfrm>
          <a:prstGeom prst="rect">
            <a:avLst/>
          </a:prstGeom>
          <a:solidFill>
            <a:srgbClr val="3979C1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3" name="Shape 252">
            <a:extLst>
              <a:ext uri="{FF2B5EF4-FFF2-40B4-BE49-F238E27FC236}">
                <a16:creationId xmlns:a16="http://schemas.microsoft.com/office/drawing/2014/main" id="{5017C99A-8FE2-2E26-843E-786D965F3536}"/>
              </a:ext>
            </a:extLst>
          </p:cNvPr>
          <p:cNvSpPr/>
          <p:nvPr/>
        </p:nvSpPr>
        <p:spPr>
          <a:xfrm>
            <a:off x="7638306" y="7362825"/>
            <a:ext cx="9525" cy="476250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4" name="Shape 253">
            <a:extLst>
              <a:ext uri="{FF2B5EF4-FFF2-40B4-BE49-F238E27FC236}">
                <a16:creationId xmlns:a16="http://schemas.microsoft.com/office/drawing/2014/main" id="{6ED06058-91AE-CC7F-84D1-B1253D9FC4D0}"/>
              </a:ext>
            </a:extLst>
          </p:cNvPr>
          <p:cNvSpPr/>
          <p:nvPr/>
        </p:nvSpPr>
        <p:spPr>
          <a:xfrm>
            <a:off x="6081713" y="7467600"/>
            <a:ext cx="266700" cy="266700"/>
          </a:xfrm>
          <a:prstGeom prst="ellipse">
            <a:avLst/>
          </a:prstGeom>
          <a:solidFill>
            <a:srgbClr val="2287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5" name="Text 254">
            <a:extLst>
              <a:ext uri="{FF2B5EF4-FFF2-40B4-BE49-F238E27FC236}">
                <a16:creationId xmlns:a16="http://schemas.microsoft.com/office/drawing/2014/main" id="{1695FC6C-2AAC-8454-4A49-EA6B9766BCFD}"/>
              </a:ext>
            </a:extLst>
          </p:cNvPr>
          <p:cNvSpPr/>
          <p:nvPr/>
        </p:nvSpPr>
        <p:spPr>
          <a:xfrm>
            <a:off x="6043613" y="74676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96" name="Shape 255">
            <a:extLst>
              <a:ext uri="{FF2B5EF4-FFF2-40B4-BE49-F238E27FC236}">
                <a16:creationId xmlns:a16="http://schemas.microsoft.com/office/drawing/2014/main" id="{46DD2EF0-5BE3-2762-5975-F1296CFB15F5}"/>
              </a:ext>
            </a:extLst>
          </p:cNvPr>
          <p:cNvSpPr/>
          <p:nvPr/>
        </p:nvSpPr>
        <p:spPr>
          <a:xfrm>
            <a:off x="10086380" y="7362825"/>
            <a:ext cx="9525" cy="476250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7" name="Shape 256">
            <a:extLst>
              <a:ext uri="{FF2B5EF4-FFF2-40B4-BE49-F238E27FC236}">
                <a16:creationId xmlns:a16="http://schemas.microsoft.com/office/drawing/2014/main" id="{7A23DDE7-9ED5-6036-2EC1-FC63D99BBCED}"/>
              </a:ext>
            </a:extLst>
          </p:cNvPr>
          <p:cNvSpPr/>
          <p:nvPr/>
        </p:nvSpPr>
        <p:spPr>
          <a:xfrm>
            <a:off x="8733681" y="7467600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8" name="Text 257">
            <a:extLst>
              <a:ext uri="{FF2B5EF4-FFF2-40B4-BE49-F238E27FC236}">
                <a16:creationId xmlns:a16="http://schemas.microsoft.com/office/drawing/2014/main" id="{45B3268C-4670-8598-DBB1-C04C790258FF}"/>
              </a:ext>
            </a:extLst>
          </p:cNvPr>
          <p:cNvSpPr/>
          <p:nvPr/>
        </p:nvSpPr>
        <p:spPr>
          <a:xfrm>
            <a:off x="8695581" y="74676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299" name="Shape 258">
            <a:extLst>
              <a:ext uri="{FF2B5EF4-FFF2-40B4-BE49-F238E27FC236}">
                <a16:creationId xmlns:a16="http://schemas.microsoft.com/office/drawing/2014/main" id="{104BEB24-B250-5C4D-F184-E2C74BB01E9B}"/>
              </a:ext>
            </a:extLst>
          </p:cNvPr>
          <p:cNvSpPr/>
          <p:nvPr/>
        </p:nvSpPr>
        <p:spPr>
          <a:xfrm>
            <a:off x="12534454" y="7362825"/>
            <a:ext cx="9525" cy="476250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0" name="Shape 259">
            <a:extLst>
              <a:ext uri="{FF2B5EF4-FFF2-40B4-BE49-F238E27FC236}">
                <a16:creationId xmlns:a16="http://schemas.microsoft.com/office/drawing/2014/main" id="{C23A8756-9197-B671-037E-B67031DB0A6C}"/>
              </a:ext>
            </a:extLst>
          </p:cNvPr>
          <p:cNvSpPr/>
          <p:nvPr/>
        </p:nvSpPr>
        <p:spPr>
          <a:xfrm>
            <a:off x="11181755" y="7467600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1" name="Text 260">
            <a:extLst>
              <a:ext uri="{FF2B5EF4-FFF2-40B4-BE49-F238E27FC236}">
                <a16:creationId xmlns:a16="http://schemas.microsoft.com/office/drawing/2014/main" id="{2A3C1EA2-A3A5-C828-AEA9-B76D181D9E6F}"/>
              </a:ext>
            </a:extLst>
          </p:cNvPr>
          <p:cNvSpPr/>
          <p:nvPr/>
        </p:nvSpPr>
        <p:spPr>
          <a:xfrm>
            <a:off x="11143655" y="74676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302" name="Shape 261">
            <a:extLst>
              <a:ext uri="{FF2B5EF4-FFF2-40B4-BE49-F238E27FC236}">
                <a16:creationId xmlns:a16="http://schemas.microsoft.com/office/drawing/2014/main" id="{D1FC8E78-3735-2F69-F090-928D917FE1BF}"/>
              </a:ext>
            </a:extLst>
          </p:cNvPr>
          <p:cNvSpPr/>
          <p:nvPr/>
        </p:nvSpPr>
        <p:spPr>
          <a:xfrm>
            <a:off x="14982527" y="7362825"/>
            <a:ext cx="9525" cy="476250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3" name="Shape 262">
            <a:extLst>
              <a:ext uri="{FF2B5EF4-FFF2-40B4-BE49-F238E27FC236}">
                <a16:creationId xmlns:a16="http://schemas.microsoft.com/office/drawing/2014/main" id="{A91CDD72-EFD1-54ED-D9E0-764707858B2F}"/>
              </a:ext>
            </a:extLst>
          </p:cNvPr>
          <p:cNvSpPr/>
          <p:nvPr/>
        </p:nvSpPr>
        <p:spPr>
          <a:xfrm>
            <a:off x="13629829" y="7467600"/>
            <a:ext cx="266700" cy="266700"/>
          </a:xfrm>
          <a:prstGeom prst="ellipse">
            <a:avLst/>
          </a:prstGeom>
          <a:solidFill>
            <a:srgbClr val="E893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4" name="Text 263">
            <a:extLst>
              <a:ext uri="{FF2B5EF4-FFF2-40B4-BE49-F238E27FC236}">
                <a16:creationId xmlns:a16="http://schemas.microsoft.com/office/drawing/2014/main" id="{1004E9BB-00F2-A754-16D9-F90B5E1C9BE8}"/>
              </a:ext>
            </a:extLst>
          </p:cNvPr>
          <p:cNvSpPr/>
          <p:nvPr/>
        </p:nvSpPr>
        <p:spPr>
          <a:xfrm>
            <a:off x="13591729" y="74676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050" dirty="0"/>
          </a:p>
        </p:txBody>
      </p:sp>
      <p:sp>
        <p:nvSpPr>
          <p:cNvPr id="305" name="Shape 264">
            <a:extLst>
              <a:ext uri="{FF2B5EF4-FFF2-40B4-BE49-F238E27FC236}">
                <a16:creationId xmlns:a16="http://schemas.microsoft.com/office/drawing/2014/main" id="{C1ACCF80-3030-DD8B-25A5-4D1CF5E61015}"/>
              </a:ext>
            </a:extLst>
          </p:cNvPr>
          <p:cNvSpPr/>
          <p:nvPr/>
        </p:nvSpPr>
        <p:spPr>
          <a:xfrm>
            <a:off x="16082665" y="7467600"/>
            <a:ext cx="266700" cy="266700"/>
          </a:xfrm>
          <a:prstGeom prst="ellipse">
            <a:avLst/>
          </a:prstGeom>
          <a:solidFill>
            <a:srgbClr val="E63323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6" name="Text 265">
            <a:extLst>
              <a:ext uri="{FF2B5EF4-FFF2-40B4-BE49-F238E27FC236}">
                <a16:creationId xmlns:a16="http://schemas.microsoft.com/office/drawing/2014/main" id="{48F81646-0D1D-A468-C30D-8E1D77901221}"/>
              </a:ext>
            </a:extLst>
          </p:cNvPr>
          <p:cNvSpPr/>
          <p:nvPr/>
        </p:nvSpPr>
        <p:spPr>
          <a:xfrm>
            <a:off x="16044565" y="74676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3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307" name="Text 266">
            <a:extLst>
              <a:ext uri="{FF2B5EF4-FFF2-40B4-BE49-F238E27FC236}">
                <a16:creationId xmlns:a16="http://schemas.microsoft.com/office/drawing/2014/main" id="{CC70092E-109F-321F-E06E-E74883CE3CDC}"/>
              </a:ext>
            </a:extLst>
          </p:cNvPr>
          <p:cNvSpPr/>
          <p:nvPr/>
        </p:nvSpPr>
        <p:spPr>
          <a:xfrm>
            <a:off x="876300" y="796290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308" name="Text 267">
            <a:extLst>
              <a:ext uri="{FF2B5EF4-FFF2-40B4-BE49-F238E27FC236}">
                <a16:creationId xmlns:a16="http://schemas.microsoft.com/office/drawing/2014/main" id="{6D755D9E-4BC2-DCD9-D384-58ABA8455F87}"/>
              </a:ext>
            </a:extLst>
          </p:cNvPr>
          <p:cNvSpPr/>
          <p:nvPr/>
        </p:nvSpPr>
        <p:spPr>
          <a:xfrm>
            <a:off x="1162050" y="7981950"/>
            <a:ext cx="12579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 nativement</a:t>
            </a:r>
            <a:endParaRPr lang="en-US" sz="1050" dirty="0"/>
          </a:p>
        </p:txBody>
      </p:sp>
      <p:sp>
        <p:nvSpPr>
          <p:cNvPr id="309" name="Text 268">
            <a:extLst>
              <a:ext uri="{FF2B5EF4-FFF2-40B4-BE49-F238E27FC236}">
                <a16:creationId xmlns:a16="http://schemas.microsoft.com/office/drawing/2014/main" id="{073EF621-5CE3-771A-A0A7-DFD7363443E0}"/>
              </a:ext>
            </a:extLst>
          </p:cNvPr>
          <p:cNvSpPr/>
          <p:nvPr/>
        </p:nvSpPr>
        <p:spPr>
          <a:xfrm>
            <a:off x="2610594" y="796290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825" dirty="0"/>
          </a:p>
        </p:txBody>
      </p:sp>
      <p:sp>
        <p:nvSpPr>
          <p:cNvPr id="310" name="Text 269">
            <a:extLst>
              <a:ext uri="{FF2B5EF4-FFF2-40B4-BE49-F238E27FC236}">
                <a16:creationId xmlns:a16="http://schemas.microsoft.com/office/drawing/2014/main" id="{CDDE51AD-2D59-1C7C-8E70-6A8F37BC6C3F}"/>
              </a:ext>
            </a:extLst>
          </p:cNvPr>
          <p:cNvSpPr/>
          <p:nvPr/>
        </p:nvSpPr>
        <p:spPr>
          <a:xfrm>
            <a:off x="2896344" y="7981950"/>
            <a:ext cx="15317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Partiel ou via intégration</a:t>
            </a:r>
            <a:endParaRPr lang="en-US" sz="1050" dirty="0"/>
          </a:p>
        </p:txBody>
      </p:sp>
      <p:sp>
        <p:nvSpPr>
          <p:cNvPr id="311" name="Text 270">
            <a:extLst>
              <a:ext uri="{FF2B5EF4-FFF2-40B4-BE49-F238E27FC236}">
                <a16:creationId xmlns:a16="http://schemas.microsoft.com/office/drawing/2014/main" id="{6A4B9C86-8432-5AEA-8E91-64EA23951F0D}"/>
              </a:ext>
            </a:extLst>
          </p:cNvPr>
          <p:cNvSpPr/>
          <p:nvPr/>
        </p:nvSpPr>
        <p:spPr>
          <a:xfrm>
            <a:off x="4618583" y="796290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75" dirty="0"/>
          </a:p>
        </p:txBody>
      </p:sp>
      <p:sp>
        <p:nvSpPr>
          <p:cNvPr id="312" name="Text 271">
            <a:extLst>
              <a:ext uri="{FF2B5EF4-FFF2-40B4-BE49-F238E27FC236}">
                <a16:creationId xmlns:a16="http://schemas.microsoft.com/office/drawing/2014/main" id="{42CAB294-58CE-511E-3D0F-084A889E26CF}"/>
              </a:ext>
            </a:extLst>
          </p:cNvPr>
          <p:cNvSpPr/>
          <p:nvPr/>
        </p:nvSpPr>
        <p:spPr>
          <a:xfrm>
            <a:off x="4904333" y="7981950"/>
            <a:ext cx="818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couvert</a:t>
            </a:r>
            <a:endParaRPr lang="en-US" sz="1050" dirty="0"/>
          </a:p>
        </p:txBody>
      </p:sp>
      <p:sp>
        <p:nvSpPr>
          <p:cNvPr id="313" name="Shape 272">
            <a:extLst>
              <a:ext uri="{FF2B5EF4-FFF2-40B4-BE49-F238E27FC236}">
                <a16:creationId xmlns:a16="http://schemas.microsoft.com/office/drawing/2014/main" id="{DBAB9A5D-AB39-1EBC-53B9-138F80A36192}"/>
              </a:ext>
            </a:extLst>
          </p:cNvPr>
          <p:cNvSpPr/>
          <p:nvPr/>
        </p:nvSpPr>
        <p:spPr>
          <a:xfrm>
            <a:off x="838200" y="8286750"/>
            <a:ext cx="16611600" cy="704850"/>
          </a:xfrm>
          <a:prstGeom prst="roundRect">
            <a:avLst>
              <a:gd name="adj" fmla="val 18919"/>
            </a:avLst>
          </a:prstGeom>
          <a:solidFill>
            <a:srgbClr val="224873"/>
          </a:solidFill>
          <a:ln/>
          <a:effectLst>
            <a:outerShdw blurRad="381000" dist="190500" dir="5400000" algn="bl" rotWithShape="0">
              <a:srgbClr val="224873">
                <a:alpha val="4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4" name="Text 273">
            <a:extLst>
              <a:ext uri="{FF2B5EF4-FFF2-40B4-BE49-F238E27FC236}">
                <a16:creationId xmlns:a16="http://schemas.microsoft.com/office/drawing/2014/main" id="{C8955445-3F40-766D-182F-18E7C1A63FBE}"/>
              </a:ext>
            </a:extLst>
          </p:cNvPr>
          <p:cNvSpPr/>
          <p:nvPr/>
        </p:nvSpPr>
        <p:spPr>
          <a:xfrm>
            <a:off x="1066800" y="8420100"/>
            <a:ext cx="1332299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25" b="1" kern="0" spc="-1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seule plateforme remplace </a:t>
            </a:r>
            <a:r>
              <a:rPr lang="en-US" sz="1425" b="1" kern="0" spc="-14" dirty="0">
                <a:solidFill>
                  <a:srgbClr val="FFD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à 5 logiciels </a:t>
            </a:r>
            <a:r>
              <a:rPr lang="en-US" sz="1425" b="1" kern="0" spc="-1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Données unifiées, TCO réel, décisions plus rapides.</a:t>
            </a:r>
            <a:endParaRPr lang="en-US" sz="1425" dirty="0"/>
          </a:p>
        </p:txBody>
      </p:sp>
      <p:sp>
        <p:nvSpPr>
          <p:cNvPr id="315" name="Shape 274">
            <a:extLst>
              <a:ext uri="{FF2B5EF4-FFF2-40B4-BE49-F238E27FC236}">
                <a16:creationId xmlns:a16="http://schemas.microsoft.com/office/drawing/2014/main" id="{1E78793C-2D78-C90D-F2DA-B82FE7F9C8D0}"/>
              </a:ext>
            </a:extLst>
          </p:cNvPr>
          <p:cNvSpPr/>
          <p:nvPr/>
        </p:nvSpPr>
        <p:spPr>
          <a:xfrm>
            <a:off x="14230350" y="8453438"/>
            <a:ext cx="2990850" cy="3714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6" name="Text 275">
            <a:extLst>
              <a:ext uri="{FF2B5EF4-FFF2-40B4-BE49-F238E27FC236}">
                <a16:creationId xmlns:a16="http://schemas.microsoft.com/office/drawing/2014/main" id="{B29CA7E5-42FE-2CC9-5723-6EADDD636162}"/>
              </a:ext>
            </a:extLst>
          </p:cNvPr>
          <p:cNvSpPr/>
          <p:nvPr/>
        </p:nvSpPr>
        <p:spPr>
          <a:xfrm>
            <a:off x="14411325" y="8558213"/>
            <a:ext cx="271862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TOUT-EN-UN · SANS COMPROMIS</a:t>
            </a:r>
            <a:endParaRPr lang="en-US" sz="975" dirty="0"/>
          </a:p>
        </p:txBody>
      </p:sp>
      <p:sp>
        <p:nvSpPr>
          <p:cNvPr id="317" name="Text 276">
            <a:extLst>
              <a:ext uri="{FF2B5EF4-FFF2-40B4-BE49-F238E27FC236}">
                <a16:creationId xmlns:a16="http://schemas.microsoft.com/office/drawing/2014/main" id="{DE8BCB81-3B7E-C077-394E-78ABEEBAAE4E}"/>
              </a:ext>
            </a:extLst>
          </p:cNvPr>
          <p:cNvSpPr/>
          <p:nvPr/>
        </p:nvSpPr>
        <p:spPr>
          <a:xfrm>
            <a:off x="838200" y="9734550"/>
            <a:ext cx="25180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 · présentation généraliste</a:t>
            </a:r>
            <a:endParaRPr lang="en-US" sz="1200" dirty="0"/>
          </a:p>
        </p:txBody>
      </p:sp>
      <p:sp>
        <p:nvSpPr>
          <p:cNvPr id="318" name="Text 277">
            <a:extLst>
              <a:ext uri="{FF2B5EF4-FFF2-40B4-BE49-F238E27FC236}">
                <a16:creationId xmlns:a16="http://schemas.microsoft.com/office/drawing/2014/main" id="{17EECA83-A5F8-8608-C774-D6975A581712}"/>
              </a:ext>
            </a:extLst>
          </p:cNvPr>
          <p:cNvSpPr/>
          <p:nvPr/>
        </p:nvSpPr>
        <p:spPr>
          <a:xfrm>
            <a:off x="16804481" y="9734550"/>
            <a:ext cx="7215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fleeti.co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85800"/>
            <a:ext cx="1326356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28490" y="790575"/>
            <a:ext cx="269994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kern="0" spc="216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SECTEURS D'ACTIVITÉ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38200" y="1447800"/>
            <a:ext cx="171099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24" dirty="0">
                <a:solidFill>
                  <a:srgbClr val="1B8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SECTEURS D'ACTIVITÉ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38200" y="1847850"/>
            <a:ext cx="17109948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10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solution adaptée à chaque </a:t>
            </a:r>
            <a:r>
              <a:rPr lang="en-US" sz="5400" b="1" kern="0" spc="-108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métier</a:t>
            </a:r>
            <a:r>
              <a:rPr lang="en-US" sz="5400" b="1" kern="0" spc="-10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838200" y="3524250"/>
            <a:ext cx="3215580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1057275" y="3800475"/>
            <a:ext cx="28607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57275" y="4067175"/>
            <a:ext cx="286075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&amp; Logistique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55675" y="4638675"/>
            <a:ext cx="2955230" cy="136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Flotte mixte thermique/électrique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 tournées &amp; optimisation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PL, VUL électriques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Carburant &amp; recharge unifiés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par véhicule et tournée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87130" y="3524250"/>
            <a:ext cx="3215580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406205" y="3800475"/>
            <a:ext cx="28607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02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406205" y="4067175"/>
            <a:ext cx="286075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 &amp; Construction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304605" y="4638674"/>
            <a:ext cx="2955230" cy="1085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Engins, nacelles, compacteurs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Heures moteur &amp; utilisation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Passage électrique/hybride anticipé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Contrats de location d'engins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536061" y="3524250"/>
            <a:ext cx="3215729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7755136" y="3800475"/>
            <a:ext cx="28609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03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55136" y="4067174"/>
            <a:ext cx="2860907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Chaîne du froid &amp; Agroalimentaire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653535" y="4777294"/>
            <a:ext cx="2955379" cy="1085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Camions frigos thermiques &amp; VE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température embarquée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autonomie &amp; recharges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Sinistres &amp; conformité sanitaire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885140" y="3524250"/>
            <a:ext cx="3215580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11104215" y="3800475"/>
            <a:ext cx="28607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04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04215" y="4067175"/>
            <a:ext cx="286075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Entreprises &amp; Services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1002615" y="4638675"/>
            <a:ext cx="2955230" cy="136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 &amp; VUL électriques/hybrides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Conducteurs &amp; autopartage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 &amp; bilan CO₂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LOM, verdissement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Contrats LLD multi-loueurs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4234071" y="3524250"/>
            <a:ext cx="3215729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14453146" y="3800475"/>
            <a:ext cx="28609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05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4453146" y="4067175"/>
            <a:ext cx="286090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0" spc="-25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 &amp; Énergie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4351546" y="4638674"/>
            <a:ext cx="2955379" cy="1085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&amp; équipements industriels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Heures et disponibilité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prédictive capteurs</a:t>
            </a:r>
            <a:endParaRPr lang="en-US" sz="1100" dirty="0"/>
          </a:p>
          <a:p>
            <a:pPr marL="0" indent="0" algn="just">
              <a:lnSpc>
                <a:spcPct val="138000"/>
              </a:lnSpc>
              <a:buNone/>
            </a:pPr>
            <a:r>
              <a:rPr lang="en-US" sz="11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Motorisations alternatives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38200" y="6229350"/>
            <a:ext cx="16611600" cy="1323975"/>
          </a:xfrm>
          <a:prstGeom prst="roundRect">
            <a:avLst>
              <a:gd name="adj" fmla="val 15827"/>
            </a:avLst>
          </a:prstGeom>
          <a:solidFill>
            <a:srgbClr val="17314F"/>
          </a:solidFill>
          <a:ln/>
          <a:effectLst>
            <a:outerShdw blurRad="457200" dist="228600" dir="5400000" algn="bl" rotWithShape="0">
              <a:srgbClr val="0F2850">
                <a:alpha val="4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1257300" y="6572250"/>
            <a:ext cx="47059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7200" b="1" dirty="0">
                <a:solidFill>
                  <a:srgbClr val="FFD78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7200" dirty="0"/>
          </a:p>
        </p:txBody>
      </p:sp>
      <p:sp>
        <p:nvSpPr>
          <p:cNvPr id="29" name="Text 26"/>
          <p:cNvSpPr/>
          <p:nvPr/>
        </p:nvSpPr>
        <p:spPr>
          <a:xfrm>
            <a:off x="1994595" y="6719888"/>
            <a:ext cx="9810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sz="2100" i="1" kern="0" spc="-2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Fleeti</a:t>
            </a:r>
            <a:r>
              <a:rPr lang="en-US" sz="2100" i="1" kern="0" spc="-2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100" i="1" kern="0" spc="-2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m'a</a:t>
            </a:r>
            <a:r>
              <a:rPr lang="en-US" sz="2100" i="1" kern="0" spc="-2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100" i="1" kern="0" spc="-2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permis</a:t>
            </a:r>
            <a:r>
              <a:rPr lang="en-US" sz="2100" i="1" kern="0" spc="-2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de </a:t>
            </a:r>
            <a:r>
              <a:rPr lang="en-US" sz="2100" i="1" kern="0" spc="-2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réaliser</a:t>
            </a:r>
            <a:r>
              <a:rPr lang="en-US" sz="2100" i="1" kern="0" spc="-2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100" b="1" i="1" kern="0" spc="-21" dirty="0">
                <a:solidFill>
                  <a:srgbClr val="FFD78F"/>
                </a:solidFill>
                <a:latin typeface="Arial"/>
                <a:ea typeface="Arial" pitchFamily="34" charset="-122"/>
                <a:cs typeface="Arial"/>
              </a:rPr>
              <a:t>-20%  </a:t>
            </a:r>
            <a:r>
              <a:rPr lang="en-US" sz="2100" i="1" kern="0" spc="-2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sur </a:t>
            </a:r>
            <a:r>
              <a:rPr lang="en-US" sz="2100" i="1" kern="0" spc="-2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nos</a:t>
            </a:r>
            <a:r>
              <a:rPr lang="en-US" sz="2100" i="1" kern="0" spc="-2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100" i="1" kern="0" spc="-2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coûts</a:t>
            </a:r>
            <a:r>
              <a:rPr lang="en-US" sz="2100" i="1" kern="0" spc="-2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de carburant.</a:t>
            </a:r>
            <a:endParaRPr lang="en-US" sz="2100" dirty="0">
              <a:latin typeface="Arial"/>
              <a:cs typeface="Arial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5101292" y="6672263"/>
            <a:ext cx="19294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kern="0" spc="27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Malick NDIAYE</a:t>
            </a:r>
            <a:endParaRPr lang="en-US" sz="1350">
              <a:latin typeface="Arial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5101292" y="6938963"/>
            <a:ext cx="19294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050" kern="0" spc="42" dirty="0" err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</a:t>
            </a:r>
            <a:r>
              <a:rPr lang="en-US" sz="1050" kern="0" spc="42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kern="0" spc="42" dirty="0" err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flotte</a:t>
            </a:r>
            <a:endParaRPr lang="en-US" sz="1050" dirty="0" err="1"/>
          </a:p>
        </p:txBody>
      </p:sp>
      <p:sp>
        <p:nvSpPr>
          <p:cNvPr id="32" name="Text 29"/>
          <p:cNvSpPr/>
          <p:nvPr/>
        </p:nvSpPr>
        <p:spPr>
          <a:xfrm>
            <a:off x="838200" y="9734550"/>
            <a:ext cx="25180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 · présentation généraliste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6804481" y="9734550"/>
            <a:ext cx="7215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fleeti.co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85800"/>
            <a:ext cx="1326356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42344" y="790575"/>
            <a:ext cx="25836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kern="0" spc="216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RÉSULTATS MESURÉS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38200" y="1447800"/>
            <a:ext cx="171099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24" dirty="0">
                <a:solidFill>
                  <a:srgbClr val="1B8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MESURÉS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38200" y="1847850"/>
            <a:ext cx="17109948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10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nos clients gagnent </a:t>
            </a:r>
            <a:r>
              <a:rPr lang="en-US" sz="5400" b="1" kern="0" spc="-108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concrètement</a:t>
            </a:r>
            <a:r>
              <a:rPr lang="en-US" sz="5400" b="1" kern="0" spc="-10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838200" y="3600450"/>
            <a:ext cx="5410200" cy="2905125"/>
          </a:xfrm>
          <a:prstGeom prst="roundRect">
            <a:avLst>
              <a:gd name="adj" fmla="val 7213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790902" y="3838575"/>
            <a:ext cx="2574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1190625" y="3990975"/>
            <a:ext cx="4846511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0500" b="1" kern="0" spc="-420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r>
              <a:rPr lang="en-US" sz="6000" b="1" kern="0" spc="-420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0500" dirty="0"/>
          </a:p>
        </p:txBody>
      </p:sp>
      <p:sp>
        <p:nvSpPr>
          <p:cNvPr id="10" name="Text 7"/>
          <p:cNvSpPr/>
          <p:nvPr/>
        </p:nvSpPr>
        <p:spPr>
          <a:xfrm>
            <a:off x="1190625" y="5257800"/>
            <a:ext cx="48465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50" b="1" kern="0" spc="-29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rapide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190625" y="5657849"/>
            <a:ext cx="4846511" cy="682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400" dirty="0">
                <a:solidFill>
                  <a:srgbClr val="13131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les méthodes classiques de gestion de flotte fragmentées entre cinq outils.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38900" y="3600450"/>
            <a:ext cx="5410200" cy="2905125"/>
          </a:xfrm>
          <a:prstGeom prst="roundRect">
            <a:avLst>
              <a:gd name="adj" fmla="val 7213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11367939" y="3838575"/>
            <a:ext cx="2811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6791325" y="3990975"/>
            <a:ext cx="4846511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0500" b="1" kern="0" spc="-420" dirty="0">
                <a:solidFill>
                  <a:srgbClr val="1B8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</a:t>
            </a:r>
            <a:r>
              <a:rPr lang="en-US" sz="6000" b="1" kern="0" spc="-420" dirty="0">
                <a:solidFill>
                  <a:srgbClr val="1B8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0500" dirty="0"/>
          </a:p>
        </p:txBody>
      </p:sp>
      <p:sp>
        <p:nvSpPr>
          <p:cNvPr id="15" name="Text 12"/>
          <p:cNvSpPr/>
          <p:nvPr/>
        </p:nvSpPr>
        <p:spPr>
          <a:xfrm>
            <a:off x="6791325" y="5257800"/>
            <a:ext cx="48465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50" b="1" kern="0" spc="-29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Visibilité totale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791325" y="5657849"/>
            <a:ext cx="4846511" cy="369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400" dirty="0">
                <a:solidFill>
                  <a:srgbClr val="13131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toute la flotte, tous types de véhicules, sur une seule interface.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2039600" y="3600450"/>
            <a:ext cx="5410200" cy="2905125"/>
          </a:xfrm>
          <a:prstGeom prst="roundRect">
            <a:avLst>
              <a:gd name="adj" fmla="val 7213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16971615" y="3838575"/>
            <a:ext cx="2781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12392025" y="3990975"/>
            <a:ext cx="4846511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0500" b="1" kern="0" spc="-420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 </a:t>
            </a:r>
            <a:r>
              <a:rPr lang="en-US" sz="6000" b="1" kern="0" spc="-420" dirty="0">
                <a:solidFill>
                  <a:srgbClr val="228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0500" dirty="0"/>
          </a:p>
        </p:txBody>
      </p:sp>
      <p:sp>
        <p:nvSpPr>
          <p:cNvPr id="20" name="Text 17"/>
          <p:cNvSpPr/>
          <p:nvPr/>
        </p:nvSpPr>
        <p:spPr>
          <a:xfrm>
            <a:off x="12392025" y="5257800"/>
            <a:ext cx="48465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50" b="1" kern="0" spc="-29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Économie carburant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12392025" y="5657849"/>
            <a:ext cx="4846511" cy="682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400" dirty="0">
                <a:solidFill>
                  <a:srgbClr val="13131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Détectée dès les premiers mois grâce aux données rapprochées et au scoring conducteur.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38200" y="6696075"/>
            <a:ext cx="5410200" cy="2905125"/>
          </a:xfrm>
          <a:prstGeom prst="roundRect">
            <a:avLst>
              <a:gd name="adj" fmla="val 7213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5760244" y="6934200"/>
            <a:ext cx="2881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1190625" y="7086600"/>
            <a:ext cx="4846511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0500" b="1" kern="0" spc="-420" dirty="0">
                <a:solidFill>
                  <a:srgbClr val="E89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 </a:t>
            </a:r>
            <a:r>
              <a:rPr lang="en-US" sz="6000" b="1" kern="0" spc="-420" dirty="0">
                <a:solidFill>
                  <a:srgbClr val="E89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0500" dirty="0"/>
          </a:p>
        </p:txBody>
      </p:sp>
      <p:sp>
        <p:nvSpPr>
          <p:cNvPr id="25" name="Text 22"/>
          <p:cNvSpPr/>
          <p:nvPr/>
        </p:nvSpPr>
        <p:spPr>
          <a:xfrm>
            <a:off x="1190625" y="8353425"/>
            <a:ext cx="48465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50" b="1" kern="0" spc="-29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Productivité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1190625" y="8753474"/>
            <a:ext cx="4846511" cy="682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400" dirty="0">
                <a:solidFill>
                  <a:srgbClr val="13131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Gagnée par l'automatisation des tâches administratives et du reporting.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38900" y="6696075"/>
            <a:ext cx="5410200" cy="2905125"/>
          </a:xfrm>
          <a:prstGeom prst="roundRect">
            <a:avLst>
              <a:gd name="adj" fmla="val 7213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11366599" y="6934200"/>
            <a:ext cx="28247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6791325" y="7086600"/>
            <a:ext cx="4846511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0500" b="1" kern="0" spc="-420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 </a:t>
            </a:r>
            <a:r>
              <a:rPr lang="en-US" sz="6000" b="1" kern="0" spc="-420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0500" dirty="0"/>
          </a:p>
        </p:txBody>
      </p:sp>
      <p:sp>
        <p:nvSpPr>
          <p:cNvPr id="30" name="Text 27"/>
          <p:cNvSpPr/>
          <p:nvPr/>
        </p:nvSpPr>
        <p:spPr>
          <a:xfrm>
            <a:off x="6791325" y="8353425"/>
            <a:ext cx="48465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50" b="1" kern="0" spc="-29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réduit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6791325" y="8753474"/>
            <a:ext cx="4846511" cy="682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400" dirty="0">
                <a:solidFill>
                  <a:srgbClr val="13131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Grâce aux données de conduite, d'usage et au pilotage de l'électrification.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12039600" y="6696075"/>
            <a:ext cx="5410200" cy="2905125"/>
          </a:xfrm>
          <a:prstGeom prst="roundRect">
            <a:avLst>
              <a:gd name="adj" fmla="val 7213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01600" dist="9525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16964918" y="6934200"/>
            <a:ext cx="2848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12392025" y="7086600"/>
            <a:ext cx="4846511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0500" b="1" kern="0" spc="-420">
                <a:solidFill>
                  <a:srgbClr val="D97757"/>
                </a:solidFill>
                <a:latin typeface="Arial"/>
                <a:ea typeface="Arial" pitchFamily="34" charset="-122"/>
                <a:cs typeface="Arial"/>
              </a:rPr>
              <a:t>4,8 </a:t>
            </a:r>
            <a:r>
              <a:rPr lang="en-US" sz="6000" b="1" kern="0" spc="-420">
                <a:solidFill>
                  <a:srgbClr val="D97757"/>
                </a:solidFill>
                <a:latin typeface="Arial"/>
                <a:ea typeface="Arial" pitchFamily="34" charset="-122"/>
                <a:cs typeface="Arial"/>
              </a:rPr>
              <a:t>★</a:t>
            </a:r>
            <a:endParaRPr lang="en-US" sz="10500">
              <a:latin typeface="Arial"/>
              <a:ea typeface="Calibri"/>
              <a:cs typeface="Calibri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2392025" y="8353425"/>
            <a:ext cx="48465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50" b="1" kern="0" spc="-29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client</a:t>
            </a:r>
            <a:endParaRPr lang="en-US" sz="1950" dirty="0"/>
          </a:p>
        </p:txBody>
      </p:sp>
      <p:sp>
        <p:nvSpPr>
          <p:cNvPr id="36" name="Text 33"/>
          <p:cNvSpPr/>
          <p:nvPr/>
        </p:nvSpPr>
        <p:spPr>
          <a:xfrm>
            <a:off x="12392025" y="8753474"/>
            <a:ext cx="4846511" cy="369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400" dirty="0">
                <a:solidFill>
                  <a:srgbClr val="13131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moyenne sur l'ensemble de la base utilisateurs Fleeti.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38200" y="9734550"/>
            <a:ext cx="581547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 · présentation généraliste · moyennes pondérées post-déploiement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6804481" y="9734550"/>
            <a:ext cx="7215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fleeti.co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85800"/>
            <a:ext cx="1326356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87711" y="790575"/>
            <a:ext cx="27419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kern="0" spc="216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PRÉSENCE &amp; ANCRAGE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38200" y="1447800"/>
            <a:ext cx="171099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24" dirty="0">
                <a:solidFill>
                  <a:srgbClr val="1B8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PRÉSENCE &amp; ANCRAGE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38200" y="1847850"/>
            <a:ext cx="17109948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10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solution française, une portée </a:t>
            </a:r>
            <a:r>
              <a:rPr lang="en-US" sz="5400" b="1" kern="0" spc="-108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internationale</a:t>
            </a:r>
            <a:r>
              <a:rPr lang="en-US" sz="5400" b="1" kern="0" spc="-10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838200" y="3524250"/>
            <a:ext cx="8235107" cy="6076950"/>
          </a:xfrm>
          <a:prstGeom prst="roundRect">
            <a:avLst>
              <a:gd name="adj" fmla="val 3448"/>
            </a:avLst>
          </a:prstGeom>
          <a:solidFill>
            <a:srgbClr val="17314F"/>
          </a:solidFill>
          <a:ln/>
          <a:effectLst>
            <a:outerShdw blurRad="457200" dist="228600" dir="5400000" algn="bl" rotWithShape="0">
              <a:srgbClr val="0F2850">
                <a:alpha val="45000"/>
              </a:srgbClr>
            </a:outerShdw>
          </a:effectLst>
        </p:spPr>
        <p:txBody>
          <a:bodyPr/>
          <a:lstStyle/>
          <a:p>
            <a:endParaRPr lang="fr-FR" sz="3600"/>
          </a:p>
        </p:txBody>
      </p:sp>
      <p:sp>
        <p:nvSpPr>
          <p:cNvPr id="8" name="Text 5"/>
          <p:cNvSpPr/>
          <p:nvPr/>
        </p:nvSpPr>
        <p:spPr>
          <a:xfrm>
            <a:off x="1181100" y="3867150"/>
            <a:ext cx="777578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EMPREINTE GÉOGRAPHIQUE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1181100" y="4086225"/>
            <a:ext cx="777578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4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France à 20+ pays sur 2 continents.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1181100" y="5000625"/>
            <a:ext cx="7549307" cy="676275"/>
          </a:xfrm>
          <a:prstGeom prst="roundRect">
            <a:avLst>
              <a:gd name="adj" fmla="val 1690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1362075" y="5143500"/>
            <a:ext cx="74029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2" dirty="0">
                <a:solidFill>
                  <a:srgbClr val="FFD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 · SIÈGE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362075" y="5334000"/>
            <a:ext cx="74029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conçue pour les standards français </a:t>
            </a:r>
            <a:r>
              <a:rPr lang="en-US" sz="1100" dirty="0">
                <a:solidFill>
                  <a:srgbClr val="FFFFFF">
                    <a:alpha val="9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loi LOM, ANTAI, RGPD, réglementation transport, CSRD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181100" y="5772150"/>
            <a:ext cx="7549307" cy="676275"/>
          </a:xfrm>
          <a:prstGeom prst="roundRect">
            <a:avLst>
              <a:gd name="adj" fmla="val 1690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1362075" y="5915025"/>
            <a:ext cx="74029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2" dirty="0">
                <a:solidFill>
                  <a:srgbClr val="FFD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362075" y="6105525"/>
            <a:ext cx="74029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>
                    <a:alpha val="9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Déploiements actifs ·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hébergées en Europe </a:t>
            </a:r>
            <a:r>
              <a:rPr lang="en-US" sz="1100" dirty="0">
                <a:solidFill>
                  <a:srgbClr val="FFFFFF">
                    <a:alpha val="9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certifié CE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181100" y="6543675"/>
            <a:ext cx="7549307" cy="676275"/>
          </a:xfrm>
          <a:prstGeom prst="roundRect">
            <a:avLst>
              <a:gd name="adj" fmla="val 1690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1362075" y="6686550"/>
            <a:ext cx="74029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2" dirty="0">
                <a:solidFill>
                  <a:srgbClr val="FFD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AFRIQUE DE L'OUEST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362075" y="6877050"/>
            <a:ext cx="74029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>
                    <a:alpha val="9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Sénégal · Côte d'Ivoire · Ghana · Burkina Faso · Togo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181100" y="7315200"/>
            <a:ext cx="7549307" cy="676275"/>
          </a:xfrm>
          <a:prstGeom prst="roundRect">
            <a:avLst>
              <a:gd name="adj" fmla="val 1690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1362075" y="7458075"/>
            <a:ext cx="74029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62" dirty="0">
                <a:solidFill>
                  <a:srgbClr val="FFD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AFRIQUE DU NORD &amp; EST · OCÉAN INDIEN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362075" y="7648575"/>
            <a:ext cx="74029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>
                    <a:alpha val="9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Maroc · Tanzanie · Kenya · </a:t>
            </a:r>
            <a:r>
              <a:rPr lang="en-US" sz="1200" dirty="0">
                <a:solidFill>
                  <a:srgbClr val="FFFFFF">
                    <a:alpha val="9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Madagascar</a:t>
            </a:r>
            <a:r>
              <a:rPr lang="en-US" sz="1050" dirty="0">
                <a:solidFill>
                  <a:srgbClr val="FFFFFF">
                    <a:alpha val="9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Afrique du Sud · Maurice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181100" y="8562975"/>
            <a:ext cx="7549307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1181100" y="8724900"/>
            <a:ext cx="251638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1181100" y="9105900"/>
            <a:ext cx="251638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36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actifs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735586" y="8724900"/>
            <a:ext cx="251638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3735586" y="9105900"/>
            <a:ext cx="251638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36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continents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290072" y="8724900"/>
            <a:ext cx="251638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700" dirty="0"/>
          </a:p>
        </p:txBody>
      </p:sp>
      <p:sp>
        <p:nvSpPr>
          <p:cNvPr id="28" name="Text 25"/>
          <p:cNvSpPr/>
          <p:nvPr/>
        </p:nvSpPr>
        <p:spPr>
          <a:xfrm>
            <a:off x="6290072" y="9105900"/>
            <a:ext cx="251638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36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606707" y="4029075"/>
            <a:ext cx="80783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24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C'EST IMPORTANT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9606707" y="4352925"/>
            <a:ext cx="807838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50" b="1" kern="0" spc="-5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les clients français, 5 garanties concrètes.</a:t>
            </a:r>
            <a:endParaRPr lang="en-US" sz="2850" dirty="0"/>
          </a:p>
        </p:txBody>
      </p:sp>
      <p:sp>
        <p:nvSpPr>
          <p:cNvPr id="31" name="Shape 28"/>
          <p:cNvSpPr/>
          <p:nvPr/>
        </p:nvSpPr>
        <p:spPr>
          <a:xfrm>
            <a:off x="9606707" y="5362575"/>
            <a:ext cx="7843093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9844832" y="55435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3979C1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9806732" y="55435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0424796" y="5584031"/>
            <a:ext cx="6940339" cy="376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RGPD garantie </a:t>
            </a:r>
            <a:r>
              <a:rPr lang="en-US" sz="14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données hébergées en Europe, audit RGPD à jour.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9606707" y="6334125"/>
            <a:ext cx="7843093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>
            <a:off x="9844832" y="65151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3979C1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9806732" y="65151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10424796" y="6446042"/>
            <a:ext cx="6940339" cy="69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 support francophone </a:t>
            </a:r>
            <a:r>
              <a:rPr lang="en-US" sz="14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basée en France, accompagnement et onboarding en français.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9606707" y="7305675"/>
            <a:ext cx="7843093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7"/>
          <p:cNvSpPr/>
          <p:nvPr/>
        </p:nvSpPr>
        <p:spPr>
          <a:xfrm>
            <a:off x="9844832" y="74866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3979C1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8"/>
          <p:cNvSpPr/>
          <p:nvPr/>
        </p:nvSpPr>
        <p:spPr>
          <a:xfrm>
            <a:off x="9806732" y="74866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10424796" y="7417592"/>
            <a:ext cx="6940339" cy="69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Adapté aux obligations légales françaises </a:t>
            </a:r>
            <a:r>
              <a:rPr lang="en-US" sz="14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ANTAI, contrôle technique, loi LOM, CSRD, TVS/TVTS.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9606707" y="8277225"/>
            <a:ext cx="7843093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1"/>
          <p:cNvSpPr/>
          <p:nvPr/>
        </p:nvSpPr>
        <p:spPr>
          <a:xfrm>
            <a:off x="9844832" y="8458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3979C1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2"/>
          <p:cNvSpPr/>
          <p:nvPr/>
        </p:nvSpPr>
        <p:spPr>
          <a:xfrm>
            <a:off x="9806732" y="84582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10424796" y="8498681"/>
            <a:ext cx="6940339" cy="376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b="1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Fabriqué en Europe · certifié CE </a:t>
            </a:r>
            <a:r>
              <a:rPr lang="en-US" sz="14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hardware et logiciel sous standards européens.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838200" y="9734550"/>
            <a:ext cx="25180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 · présentation généraliste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16804481" y="9734550"/>
            <a:ext cx="7215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fleeti.co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4"/>
          <p:cNvSpPr/>
          <p:nvPr/>
        </p:nvSpPr>
        <p:spPr>
          <a:xfrm>
            <a:off x="9495681" y="0"/>
            <a:ext cx="8792319" cy="10287000"/>
          </a:xfrm>
          <a:prstGeom prst="rect">
            <a:avLst/>
          </a:prstGeom>
          <a:solidFill>
            <a:srgbClr val="1731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C8D89A0C-523F-1CAC-2601-9EE6CA89A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121" y="-89045"/>
            <a:ext cx="8784408" cy="1046509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487770" y="-89045"/>
            <a:ext cx="8792319" cy="10277476"/>
          </a:xfrm>
          <a:prstGeom prst="rect">
            <a:avLst/>
          </a:prstGeom>
          <a:solidFill>
            <a:schemeClr val="accent1">
              <a:alpha val="18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4" name="Text 21"/>
          <p:cNvSpPr/>
          <p:nvPr/>
        </p:nvSpPr>
        <p:spPr>
          <a:xfrm>
            <a:off x="9606915" y="9158288"/>
            <a:ext cx="5459700" cy="841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véhicule léger au poids lourd, thermique ou électrique. </a:t>
            </a:r>
            <a:r>
              <a:rPr lang="en-US" sz="14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Télématique, gestion, contrats, sinistralité, TCO, transition énergétique · sur une seule plateforme.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606915" y="7877174"/>
            <a:ext cx="83497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PASSONS À L'ACTION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15238065" y="466725"/>
            <a:ext cx="2602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FABRIQUÉ EN EUROPE · CERTIFIÉ CE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606915" y="8066232"/>
            <a:ext cx="4709160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50" b="1" kern="0" spc="-5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logiciel pour piloter toute votre flotte.</a:t>
            </a:r>
            <a:endParaRPr lang="en-US" sz="2850" dirty="0"/>
          </a:p>
        </p:txBody>
      </p:sp>
      <p:sp>
        <p:nvSpPr>
          <p:cNvPr id="19" name="Shape 16"/>
          <p:cNvSpPr/>
          <p:nvPr/>
        </p:nvSpPr>
        <p:spPr>
          <a:xfrm>
            <a:off x="14885640" y="342900"/>
            <a:ext cx="3059460" cy="4191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15066615" y="514350"/>
            <a:ext cx="76200" cy="76200"/>
          </a:xfrm>
          <a:prstGeom prst="ellipse">
            <a:avLst/>
          </a:prstGeom>
          <a:solidFill>
            <a:srgbClr val="FFD7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85800"/>
            <a:ext cx="1688157" cy="53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785938"/>
            <a:ext cx="8367803" cy="396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100" b="1" kern="0" spc="-243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Reprenez le contrôle de toute </a:t>
            </a:r>
            <a:r>
              <a:rPr lang="en-US" sz="8100" b="1" kern="0" spc="-243" dirty="0">
                <a:solidFill>
                  <a:srgbClr val="39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flotte </a:t>
            </a:r>
            <a:r>
              <a:rPr lang="en-US" sz="8100" b="1" kern="0" spc="-243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100" dirty="0"/>
          </a:p>
        </p:txBody>
      </p:sp>
      <p:sp>
        <p:nvSpPr>
          <p:cNvPr id="5" name="Text 2"/>
          <p:cNvSpPr/>
          <p:nvPr/>
        </p:nvSpPr>
        <p:spPr>
          <a:xfrm>
            <a:off x="685800" y="5938838"/>
            <a:ext cx="706374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dirty="0" err="1">
                <a:solidFill>
                  <a:srgbClr val="131313">
                    <a:alpha val="78000"/>
                  </a:srgbClr>
                </a:solidFill>
                <a:latin typeface="Arial"/>
                <a:cs typeface="Arial"/>
              </a:rPr>
              <a:t>Ils</a:t>
            </a:r>
            <a:r>
              <a:rPr lang="en-US" dirty="0">
                <a:solidFill>
                  <a:srgbClr val="131313">
                    <a:alpha val="78000"/>
                  </a:srgbClr>
                </a:solidFill>
                <a:latin typeface="Arial"/>
                <a:cs typeface="Arial"/>
              </a:rPr>
              <a:t> nous font </a:t>
            </a:r>
            <a:r>
              <a:rPr lang="en-US" dirty="0" err="1">
                <a:solidFill>
                  <a:srgbClr val="131313">
                    <a:alpha val="78000"/>
                  </a:srgbClr>
                </a:solidFill>
                <a:latin typeface="Arial"/>
                <a:cs typeface="Arial"/>
              </a:rPr>
              <a:t>confiance</a:t>
            </a:r>
            <a:endParaRPr lang="en-US" sz="1800" dirty="0" err="1">
              <a:solidFill>
                <a:srgbClr val="131313">
                  <a:alpha val="78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85800" y="8462963"/>
            <a:ext cx="8124081" cy="9525"/>
          </a:xfrm>
          <a:prstGeom prst="rect">
            <a:avLst/>
          </a:prstGeom>
          <a:solidFill>
            <a:srgbClr val="DCE4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685800" y="8662988"/>
            <a:ext cx="14381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8872538"/>
            <a:ext cx="14381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-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www.fleeti.co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2390626" y="8662988"/>
            <a:ext cx="17069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390626" y="8872538"/>
            <a:ext cx="17069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-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+33 7 49 95 32 93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4364236" y="8662988"/>
            <a:ext cx="24875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COUVERTURE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364236" y="8872538"/>
            <a:ext cx="24875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-8" dirty="0">
                <a:solidFill>
                  <a:srgbClr val="224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 · Europe · Afrique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85800" y="9572625"/>
            <a:ext cx="836780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89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Fleeti SAS · L'IoT au service des opérations des entreprises africaines et européennes.</a:t>
            </a:r>
            <a:endParaRPr lang="en-US" sz="975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AF08D0-F9F1-C2FC-85AC-EBD1A81FAA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3481" y="6629400"/>
            <a:ext cx="1280860" cy="17686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14BED7D-5ED0-6E8F-A81E-2AC05916CC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870" y="7563853"/>
            <a:ext cx="818148" cy="83017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B693961-CA42-700A-25AE-F0C9739B79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865" y="6587289"/>
            <a:ext cx="834190" cy="83419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3D21068-A79A-9AEF-9D1F-48E4C942B8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5699" y="6870032"/>
            <a:ext cx="3562350" cy="54142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8DFFAC3-3021-AFC3-E28C-DCD1908F89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8572" y="7848600"/>
            <a:ext cx="1885950" cy="5334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194747E-AB2D-8DEC-6E84-01B5D5F906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3741" y="7936832"/>
            <a:ext cx="1514475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1289</TotalTime>
  <Words>2264</Words>
  <Application>Microsoft Macintosh PowerPoint</Application>
  <PresentationFormat>Personnalisé</PresentationFormat>
  <Paragraphs>402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Louise Duplaceau</cp:lastModifiedBy>
  <cp:revision>2</cp:revision>
  <dcterms:created xsi:type="dcterms:W3CDTF">2026-05-19T08:31:10Z</dcterms:created>
  <dcterms:modified xsi:type="dcterms:W3CDTF">2026-05-20T06:06:34Z</dcterms:modified>
</cp:coreProperties>
</file>